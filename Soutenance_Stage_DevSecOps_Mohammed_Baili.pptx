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Bonjour à toutes et à tous. Je m'appelle Mohammed Baili et je vais vous présenter mon projet de stage d'été 2026 portant sur la mise en place d'une pipeline DevSecOps avec intégration de tests de sécurité. Ce projet s'inscrit dans une approche « Shift Left Security » qui consiste à détecter les vulnérabilités le plus tôt possible dans le cycle de développement.</a:t>
            </a:r>
          </a:p>
          <a:p/>
          <a:p>
            <a:r>
              <a:t>[Timing] ~30 secondes</a:t>
            </a:r>
          </a:p>
          <a:p>
            <a:r>
              <a:t>[Transition] Commençons par le sommaire de cette présentation.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Voici le plan de cette présentation. Nous allons d'abord voir le contexte et les objectifs du stage, puis l'application cible que j'ai choisie. Ensuite, je détaillerai la pipeline DevSecOps en 9 étapes et la stack technique utilisée. Je présenterai les résultats des analyses de sécurité — 20 vulnérabilités identifiées — ainsi que le plan de remédiation priorisé. Enfin, je terminerai par les livrables, une démonstration, et les perspectives d'évolution.</a:t>
            </a:r>
          </a:p>
          <a:p/>
          <a:p>
            <a:r>
              <a:t>[Timing] ~30 secondes</a:t>
            </a:r>
          </a:p>
          <a:p>
            <a:r>
              <a:t>[Transition] Commençons par le contexte et les objectifs de ce stage.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Ce stage s'inscrit dans le cadre d'un projet DevSecOps visant à intégrer la sécurité tout au long du cycle de développement — c'est ce qu'on appelle le Shift Left Security. Concrètement, il s'agissait de choisir une application open source existante sur GitHub, puis de construire autour d'elle une pipeline complète qui automatise les contrôles de qualité, les tests et les vérifications de sécurité. Les 5 objectifs principaux étaient : utiliser un projet open source comme base, mettre en place une pipeline CI/CD, intégrer SonarQube, automatiser les tests unitaires, et réaliser des analyses de sécurité statiques et dynamiques.</a:t>
            </a:r>
          </a:p>
          <a:p/>
          <a:p>
            <a:r>
              <a:t>[Timing] ~1 minute 30</a:t>
            </a:r>
          </a:p>
          <a:p>
            <a:r>
              <a:t>[Transition] Voyons maintenant l'application que j'ai choisie comme cible pour cette pipeline.</a:t>
            </a:r>
          </a:p>
          <a:p>
            <a:r>
              <a:t>[Question probable] Pourquoi ne pas avoir développé votre propre application ? — Réponse : l'objectif était de travailler sur un projet réel, avec ses forces et ses faiblesses, pour que les résultats de l'analyse de sécurité soient authentiques et exploitables.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L'application cible que j'ai choisie s'appelle Conduit. C'est un clone de Medium.com — une plateforme de blog social — développé en Flask, le framework Python. Elle utilise PostgreSQL avec l'ORM SQLAlchemy, l'authentification JWT, et expose une API REST complète. J'ai choisi cette application selon 5 critères : dépôt actif avec licence MIT, suite de tests déjà présente — ce qui permet de l'intégrer directement dans la pipeline — application web avec API REST pour que les tests DAST soient applicables, taille raisonnable de 3000 lignes, et langage Python qui était le langage préféré dans le cahier des charges.</a:t>
            </a:r>
          </a:p>
          <a:p/>
          <a:p>
            <a:r>
              <a:t>[Timing] ~1 minute</a:t>
            </a:r>
          </a:p>
          <a:p>
            <a:r>
              <a:t>[Transition] Passons maintenant au cœur du projet : la pipeline DevSecOps en 9 étapes.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Voici une vue d'ensemble de la pipeline DevSecOps. Elle comporte 9 étapes, de la récupération du code source jusqu'à la génération des rapports. Tout est orchestré par GitHub Actions — chaque push sur le dépôt déclenche automatiquement l'ensemble du processus. La durée totale est d'environ 15 à 20 minutes. On voit que la sécurité est intégrée à chaque niveau : Gitleaks dès l'étape 1 pour détecter les secrets, SonarQube à l'étape 3 pour la qualité du code, Semgrep et Bandit à l'étape 5 pour l'analyse statique, Trivy à l'étape 6 pour le scan du conteneur, et ZAP à l'étape 8 pour les tests dynamiques.</a:t>
            </a:r>
          </a:p>
          <a:p/>
          <a:p>
            <a:r>
              <a:t>[Timing] ~1 minute 30</a:t>
            </a:r>
          </a:p>
          <a:p>
            <a:r>
              <a:t>[Transition] Voyons maintenant chaque étape en détail.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Voici le détail des 9 étapes avec leurs scripts et leurs artefacts. Chaque étape est implémentée dans un script shell ou Python dédié, ce qui rend la pipeline modulaire et facile à maintenir. L'étape 1 clone le dépôt et vérifie l'intégrité avec Gitleaks. L'étape 3 démarre SonarQube dans Docker et attend qu'il soit prêt. L'étape 5 exécute 4 outils SAST en parallèle : Semgrep, Bandit, Gitleaks et pip-audit. L'étape 8 combine OWASP ZAP et 12 scénarios personnalisés que j'ai développés. Enfin, l'étape 9 agrège tous les résultats dans un résumé exécutif.</a:t>
            </a:r>
          </a:p>
          <a:p/>
          <a:p>
            <a:r>
              <a:t>[Timing] ~1 minute</a:t>
            </a:r>
          </a:p>
          <a:p>
            <a:r>
              <a:t>[Transition] Regardons maintenant la stack technique complète.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La stack technique est entièrement basée sur des outils open source et gratuits. Pour l'orchestration, j'utilise GitHub Actions comme CI principal, avec un Jenkinsfile et un Makefile comme alternatives. Pour la qualité de code, SonarQube Community Edition dans Docker. Pour la sécurité statique, 4 outils complémentaires : Semgrep pour les règles OWASP, Bandit pour le Python, Gitleaks pour les secrets, et pip-audit pour les dépendances. Pour le conteneur, Docker en multi-stage avec un utilisateur non-root, et Trivy pour scanner les vulnérabilités. Enfin, OWASP ZAP et 12 scripts personnalisés pour les tests dynamiques.</a:t>
            </a:r>
          </a:p>
          <a:p/>
          <a:p>
            <a:r>
              <a:t>[Timing] ~1 minute</a:t>
            </a:r>
          </a:p>
          <a:p>
            <a:r>
              <a:t>[Transition] Voyons comment GitHub Actions orchestre tout cela.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L'orchestration est assurée par 3 workflows GitHub Actions. Le workflow CI couvre les étapes 1 à 5 — il se déclenche à chaque push et pull request sur la branche main. Le workflow CD couvre les étapes 6 à 8 — déploiement et tests dynamiques. Et un workflow nightly qui s'exécute tous les jours à 3 heures du matin pour un scan de sécurité complet avec ZAP en mode actif et OWASP Dependency-Check. Un Jenkinsfile est également fourni pour les entreprises qui utilisent Jenkins.</a:t>
            </a:r>
          </a:p>
          <a:p/>
          <a:p>
            <a:r>
              <a:t>[Timing] ~1 minute</a:t>
            </a:r>
          </a:p>
          <a:p>
            <a:r>
              <a:t>[Transition] Passons maintenant aux résultats — c'est le cœur de cette soutenance.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Voici le résumé des résultats de l'analyse de sécurité. Au total, 20 vulnérabilités ont été identifiées dans l'application cible. La répartition est la suivante : 1 vulnérabilité critique — une clé secrète par défaut qui permet de forger des tokens JWT — 5 vulnérabilités hautes incluant des CVE dans SQLAlchemy et l'absence de rate limiting, 8 vulnérabilités moyennes, et 6 basses. Le score de sécurité global est de 55 sur 100 — c'est moyen, des améliorations sont nécessaires. En revanche, les points positifs : SonarQube Quality Gate est PASS, tous les tests unitaires passent, et la couverture de code est de 85%.</a:t>
            </a:r>
          </a:p>
          <a:p/>
          <a:p>
            <a:r>
              <a:t>[Timing] ~1 minute 30</a:t>
            </a:r>
          </a:p>
          <a:p>
            <a:r>
              <a:t>[Transition] Concentrons-nous maintenant sur les 5 risques les plus importants.</a:t>
            </a:r>
          </a:p>
          <a:p>
            <a:r>
              <a:t>[Attention] Bien faire ressortir le chiffre 20 et le score 55/100 — ce sont les chiffres clés que le jury va retenir.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Voici le top 5 des risques classés par criticité. Le risque numéro 1 est critique : la clé secrète utilisée pour signer les tokens JWT a une valeur par défaut de 'secret-key'. Si la variable d'environnement n'est pas définie en production — ce qui arrive fréquemment — n'importe quel attaquant peut forger des tokens valides. C'est un CVSS de 9.8, le score maximum. La correction est triviale : 3 lignes de code, 5 minutes. C'est typique du Shift Left Security : détecter tôt ce qui est facile à corriger mais catastrophique si on le laisse passer. Les risques 2 à 5 concernent des CVE dans les dépendances, l'absence de rate limiting, l'absence de TLS, et l'absence de limite de taille de requête.</a:t>
            </a:r>
          </a:p>
          <a:p/>
          <a:p>
            <a:r>
              <a:t>[Timing] ~2 minutes</a:t>
            </a:r>
          </a:p>
          <a:p>
            <a:r>
              <a:t>[Transition] Voyons maintenant un exemple concret avec le code vulnérable et sa correction.</a:t>
            </a:r>
          </a:p>
          <a:p>
            <a:r>
              <a:t>[Attention] Bien insister sur le contraste entre la criticité (9.8) et la simplicité de la correction (5 minutes). C'est l'essence du Shift Left Security.</a:t>
            </a:r>
          </a:p>
          <a:p>
            <a:r>
              <a:t>[Question probable] Pourquoi SECRET_KEY n'était-elle pas en variable d'environnement ? — Réponse : c'est une pratique courante dans les prototypes open source pour faciliter le développement, mais inacceptable en production. C'est précisément ce que la pipeline permet de détecter.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Voici un exemple concret. À gauche, le code vulnérable : la clé secrète utilise 'secret-key' comme valeur par défaut. À droite, le code corrigé : on lit la variable d'environnement et on lève une exception si elle n'est pas définie. C'est 3 lignes de différence — 5 minutes de travail — mais l'impact est maximal. En bas, vous voyez le vecteur CVSS : accessible réseau, complexité faible, pas de privilèges requis, impact maximal sur la confidentialité, l'intégrité et la disponibilité. Un attaquant peut simplement encoder un token JWT avec la clé 'secret-key' et il aura accès à n'importe quel compte.</a:t>
            </a:r>
          </a:p>
          <a:p/>
          <a:p>
            <a:r>
              <a:t>[Timing] ~1 minute 30</a:t>
            </a:r>
          </a:p>
          <a:p>
            <a:r>
              <a:t>[Transition] Voyons maintenant les résultats des 12 scénarios DAST qui complètent cette analyse.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Voici les résultats des 12 scénarios DAST que j'ai implémentés. Chaque scénario est un script Python indépendant qui teste un type d'attaque spécifique. Les scénarios couvrent l'OWASP Top 10 plus des attaques spécifiques comme le credential stuffing et le replay attack. Les sévérités maximales par scénario sont indiquées : le scénario 10 sur la mauvaise configuration a révélé la vulnérabilité critique qu'on vient de voir. Les scénarios 1, 2, 3 et 9 ont des sévérités hautes. Le scénario 12 sur le sender spoofing n'est pas applicable car l'application n'envoie pas d'emails.</a:t>
            </a:r>
          </a:p>
          <a:p/>
          <a:p>
            <a:r>
              <a:t>[Timing] ~1 minute</a:t>
            </a:r>
          </a:p>
          <a:p>
            <a:r>
              <a:t>[Transition] Passons maintenant au plan de remédiation qui découle de ces résultats.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Le plan de remédiation est structuré en 4 niveaux de priorité. P0 immédiat : une vulnérabilité à corriger maintenant, 5 minutes. P1 ce sprint : 3 corrections en 6 heures qui traitent toutes les vulnérabilités hautes — mise à jour de SQLAlchemy, rate limiting, et TLS. P2 prochain sprint : 5 corrections en 3 heures pour les vulnérabilités moyennes. P3 backlog : 5 améliorations en 4 heures pour renforcer la posture de sécurité. Au total, environ 13 heures de travail pour passer d'un score de sécurité de 55 à 90 sur 100.</a:t>
            </a:r>
          </a:p>
          <a:p/>
          <a:p>
            <a:r>
              <a:t>[Timing] ~1 minute 30</a:t>
            </a:r>
          </a:p>
          <a:p>
            <a:r>
              <a:t>[Transition] Mais tout n'est pas négatif — voyons les bonnes pratiques qui ont été identifiées.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Il est important de souligner que l'application cible a aussi de très bonnes pratiques de sécurité. Le hachage des mots de passe utilise bcrypt avec 13 rounds — c'est excellent. L'ORM SQLAlchemy est utilisé de manière systématique, ce qui protège contre les injections SQL. La propriété des ressources est vérifiée avant toute modification. Les mots de passe ne sont jamais renvoyés dans les réponses API grâce à load_only dans Marshmallow. L'authentification JWT est correctement mise en œuvre. Et Semgrep, avec 156 règles, n'a détecté aucun problème OWASP Top 10 — ce qui confirme la qualité du code.</a:t>
            </a:r>
          </a:p>
          <a:p/>
          <a:p>
            <a:r>
              <a:t>[Timing] ~1 minute</a:t>
            </a:r>
          </a:p>
          <a:p>
            <a:r>
              <a:t>[Transition] Passons maintenant aux livrables concrets produits pendant ce stage.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Les livrables du stage sont en deux parties. Côté code, tout est versionné sur GitHub : la pipeline CI/CD complète avec 3 workflows GitHub Actions, un Jenkinsfile et un Makefile, 18 scripts shell et Python, 12 scénarios DAST, et la configuration Docker complète. Côté documentation, 8 rapports PDF en français ont été produits, couvrant l'ensemble des aspects du projet : rapport final, documentation technique, résultats de sécurité, plan de remédiation, guide de reproduction, et les rapports spécifiques SonarQube et tests unitaires. Le dépôt est public et accessible à l'URL affichée.</a:t>
            </a:r>
          </a:p>
          <a:p/>
          <a:p>
            <a:r>
              <a:t>[Timing] ~1 minute</a:t>
            </a:r>
          </a:p>
          <a:p>
            <a:r>
              <a:t>[Transition] Je vous propose maintenant une démonstration de la pipeline en action.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Je vais maintenant vous montrer une capture d'écran de l'exécution réelle de la pipeline. On voit les 9 étapes qui s'enchaînent automatiquement : le clone du dépôt avec vérification SHA, le build, SonarQube qui passe le Quality Gate, les 30 tests unitaires qui passent avec 85% de couverture, l'analyse SAST qui trouve 2 vulnérabilités basse et 3 hautes, la construction de l'image Docker avec le scan Trivy, le déploiement, les tests DAST, et enfin le résumé exécutif. La durée totale est d'environ 15 à 20 minutes.</a:t>
            </a:r>
          </a:p>
          <a:p/>
          <a:p>
            <a:r>
              <a:t>[Timing] ~2 minutes</a:t>
            </a:r>
          </a:p>
          <a:p>
            <a:r>
              <a:t>[Transition] Voici également le dashboard SonarQube qui confirme la qualité du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Le dashboard SonarQube confirme la qualité du code de l'application cible. Le Quality Gate est PASS — c'est le feu vert. Zéro bug, zéro vulnérabilité détectée par SonarQube, 8 code smells mineurs, une couverture de test de 85%, zéro duplication, et zéro jour de dette technique. C'est un tableau de bord très propre qui montre que l'application cible, malgré ses vulnérabilités de configuration, a un code de bonne qualité.</a:t>
            </a:r>
          </a:p>
          <a:p/>
          <a:p>
            <a:r>
              <a:t>[Timing] ~1 minute</a:t>
            </a:r>
          </a:p>
          <a:p>
            <a:r>
              <a:t>[Transition] Terminons par la conformité OWASP Top 10.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terminer l'analyse, voici la conformité OWASP Top 10 2021. Sur les 10 catégories, 3 sont conformes : le contrôle d'accès est correct, l'intégrité logicielle est vérifiée, et le SSRF n'est pas applicable. 4 catégories présentent des défaillances : A02 avec la clé secrète par défaut, A05 avec la mauvaise configuration, A06 avec SQLAlchemy obsolète, et A07 avec l'absence de rate limiting. 3 catégories sont partiellement conformes et nécessitent des améliorations.</a:t>
            </a:r>
          </a:p>
          <a:p/>
          <a:p>
            <a:r>
              <a:t>[Timing] ~1 minute</a:t>
            </a:r>
          </a:p>
          <a:p>
            <a:r>
              <a:t>[Transition] Passons maintenant à la conclusion et aux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Pour conclure, trois points clés. Premièrement, une pipeline DevSecOps complète et reproductible a été mise en place — 9 étapes, environ 15 à 20 minutes, exécutable sur n'importe quelle machine Ubuntu avec Docker. Deuxièmement, l'analyse a révélé 20 vulnérabilités, dont une critique, avec un plan de remédiation chiffré à 13 heures de travail. Troisièmement, après application de ce plan, le score de sécurité passerait de 55 à 90 sur 100. L'approche Shift Left Security démontre ici toute sa valeur : détecter tôt, corriger vite, à moindre coût.</a:t>
            </a:r>
          </a:p>
          <a:p/>
          <a:p>
            <a:r>
              <a:t>[Timing] ~1 minute 30</a:t>
            </a:r>
          </a:p>
          <a:p>
            <a:r>
              <a:t>[Transition] Voyons maintenant les perspectives d'évolution de ce projet.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Ce projet ouvre de nombreuses perspectives d'évolution. On pourrait intégrer des tests de fuzzing pour découvrir des vulnérabilités inconnues, approfondir le scan SCA avec OWASP Dependency-Check pour une analyse plus complète des dépendances, étendre les scénarios DAST aux attaques de logique métier et aux race conditions, ajouter des tests mutationnels pour évaluer la qualité de la suite de tests, intégrer la sécurité directement dans les pull requests via SonarQube PR decoration, et déployer sur Kubernetes avec les politiques Pod Security Standards.</a:t>
            </a:r>
          </a:p>
          <a:p/>
          <a:p>
            <a:r>
              <a:t>[Timing] ~1 minute</a:t>
            </a:r>
          </a:p>
          <a:p>
            <a:r>
              <a:t>[Transition] Je termine par un bilan personnel de ce stage.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Sur le plan personnel, ce stage m'a permis d'acquérir des compétences solides dans 5 domaines. D'abord, la maîtrise des outils DevSecOps : SonarQube, Semgrep, ZAP, Trivy, Gitleaks — des outils utilisés en entreprise. Ensuite, l'architecture CI/CD avec GitHub Actions, Jenkinsfile et Makefile. La sécurité applicative avec l'OWASP Top 10, les analyses SAST et DAST, et le scoring CVSS. La conteneurisation Docker avec des bonnes pratiques de sécurité. Et enfin, la documentation technique — 8 rapports PDF professionnels en français.</a:t>
            </a:r>
          </a:p>
          <a:p/>
          <a:p>
            <a:r>
              <a:t>[Timing] ~1 minute</a:t>
            </a:r>
          </a:p>
          <a:p>
            <a:r>
              <a:t>[Transition] Je vous remercie de votre attention et je suis disponible pour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dire] Je vous remercie de votre attention. Je suis maintenant disponible pour répondre à vos questions.</a:t>
            </a:r>
          </a:p>
          <a:p/>
          <a:p>
            <a:r>
              <a:t>[Timing] ~30 secondes — ouverture aux questions du jury.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1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1080000"/>
            <a:ext cx="10800000" cy="648000"/>
          </a:xfrm>
          <a:prstGeom prst="rect">
            <a:avLst/>
          </a:prstGeom>
          <a:noFill/>
        </p:spPr>
        <p:txBody>
          <a:bodyPr wrap="square">
            <a:spAutoFit/>
          </a:bodyPr>
          <a:lstStyle/>
          <a:p>
            <a:pPr>
              <a:defRPr sz="2800" b="1">
                <a:solidFill>
                  <a:srgbClr val="1A365D"/>
                </a:solidFill>
                <a:latin typeface="Calibri"/>
              </a:defRPr>
            </a:pPr>
            <a:r>
              <a:t>Mise en place d'une pipeline DevSecOps</a:t>
            </a:r>
          </a:p>
        </p:txBody>
      </p:sp>
      <p:sp>
        <p:nvSpPr>
          <p:cNvPr id="5" name="TextBox 4"/>
          <p:cNvSpPr txBox="1"/>
          <p:nvPr/>
        </p:nvSpPr>
        <p:spPr>
          <a:xfrm>
            <a:off x="900000" y="1800000"/>
            <a:ext cx="10080000" cy="720000"/>
          </a:xfrm>
          <a:prstGeom prst="rect">
            <a:avLst/>
          </a:prstGeom>
          <a:noFill/>
        </p:spPr>
        <p:txBody>
          <a:bodyPr wrap="square">
            <a:spAutoFit/>
          </a:bodyPr>
          <a:lstStyle/>
          <a:p>
            <a:pPr>
              <a:defRPr sz="2200" b="0" i="0">
                <a:solidFill>
                  <a:srgbClr val="2B6CB0"/>
                </a:solidFill>
                <a:latin typeface="Calibri"/>
              </a:defRPr>
            </a:pPr>
            <a:r>
              <a:t>avec intégration de tests de sécurité</a:t>
            </a:r>
          </a:p>
        </p:txBody>
      </p:sp>
      <p:sp>
        <p:nvSpPr>
          <p:cNvPr id="6" name="TextBox 5"/>
          <p:cNvSpPr txBox="1"/>
          <p:nvPr/>
        </p:nvSpPr>
        <p:spPr>
          <a:xfrm>
            <a:off x="900000" y="2880000"/>
            <a:ext cx="10080000" cy="540000"/>
          </a:xfrm>
          <a:prstGeom prst="rect">
            <a:avLst/>
          </a:prstGeom>
          <a:noFill/>
        </p:spPr>
        <p:txBody>
          <a:bodyPr wrap="square">
            <a:spAutoFit/>
          </a:bodyPr>
          <a:lstStyle/>
          <a:p>
            <a:pPr>
              <a:defRPr sz="1800" b="0" i="1">
                <a:solidFill>
                  <a:srgbClr val="7F8C8D"/>
                </a:solidFill>
                <a:latin typeface="Calibri"/>
              </a:defRPr>
            </a:pPr>
            <a:r>
              <a:t>Stage d'été 2026 — Soutenance</a:t>
            </a:r>
          </a:p>
        </p:txBody>
      </p:sp>
      <p:sp>
        <p:nvSpPr>
          <p:cNvPr id="7" name="TextBox 6"/>
          <p:cNvSpPr txBox="1"/>
          <p:nvPr/>
        </p:nvSpPr>
        <p:spPr>
          <a:xfrm>
            <a:off x="900000" y="3960000"/>
            <a:ext cx="10080000" cy="360000"/>
          </a:xfrm>
          <a:prstGeom prst="rect">
            <a:avLst/>
          </a:prstGeom>
          <a:noFill/>
        </p:spPr>
        <p:txBody>
          <a:bodyPr wrap="square">
            <a:spAutoFit/>
          </a:bodyPr>
          <a:lstStyle/>
          <a:p>
            <a:pPr>
              <a:defRPr sz="1600" b="0" i="0">
                <a:solidFill>
                  <a:srgbClr val="1A202C"/>
                </a:solidFill>
                <a:latin typeface="Calibri"/>
              </a:defRPr>
            </a:pPr>
            <a:r>
              <a:t>Stagiaire : Mohammed Baili</a:t>
            </a:r>
          </a:p>
        </p:txBody>
      </p:sp>
      <p:sp>
        <p:nvSpPr>
          <p:cNvPr id="8" name="TextBox 7"/>
          <p:cNvSpPr txBox="1"/>
          <p:nvPr/>
        </p:nvSpPr>
        <p:spPr>
          <a:xfrm>
            <a:off x="900000" y="4500000"/>
            <a:ext cx="10080000" cy="360000"/>
          </a:xfrm>
          <a:prstGeom prst="rect">
            <a:avLst/>
          </a:prstGeom>
          <a:noFill/>
        </p:spPr>
        <p:txBody>
          <a:bodyPr wrap="square">
            <a:spAutoFit/>
          </a:bodyPr>
          <a:lstStyle/>
          <a:p>
            <a:pPr>
              <a:defRPr sz="1600" b="0" i="0">
                <a:solidFill>
                  <a:srgbClr val="7F8C8D"/>
                </a:solidFill>
                <a:latin typeface="Calibri"/>
              </a:defRPr>
            </a:pPr>
            <a:r>
              <a:t>Encadrant / Entreprise : [À compléter]</a:t>
            </a:r>
          </a:p>
        </p:txBody>
      </p:sp>
      <p:sp>
        <p:nvSpPr>
          <p:cNvPr id="9" name="TextBox 8"/>
          <p:cNvSpPr txBox="1"/>
          <p:nvPr/>
        </p:nvSpPr>
        <p:spPr>
          <a:xfrm>
            <a:off x="900000" y="5040000"/>
            <a:ext cx="10080000" cy="360000"/>
          </a:xfrm>
          <a:prstGeom prst="rect">
            <a:avLst/>
          </a:prstGeom>
          <a:noFill/>
        </p:spPr>
        <p:txBody>
          <a:bodyPr wrap="square">
            <a:spAutoFit/>
          </a:bodyPr>
          <a:lstStyle/>
          <a:p>
            <a:pPr>
              <a:defRPr sz="1600" b="0" i="0">
                <a:solidFill>
                  <a:srgbClr val="7F8C8D"/>
                </a:solidFill>
                <a:latin typeface="Calibri"/>
              </a:defRPr>
            </a:pPr>
            <a:r>
              <a:t>Date : [À compléter — date de soutenance]</a:t>
            </a:r>
          </a:p>
        </p:txBody>
      </p:sp>
      <p:sp>
        <p:nvSpPr>
          <p:cNvPr id="10" name="Rectangle 9"/>
          <p:cNvSpPr/>
          <p:nvPr/>
        </p:nvSpPr>
        <p:spPr>
          <a:xfrm>
            <a:off x="10080000" y="540000"/>
            <a:ext cx="1440000" cy="1440000"/>
          </a:xfrm>
          <a:prstGeom prst="rect">
            <a:avLst/>
          </a:prstGeom>
          <a:solidFill>
            <a:srgbClr val="F8F9FA"/>
          </a:solidFill>
          <a:ln w="12700">
            <a:solidFill>
              <a:srgbClr val="7F8C8D"/>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60000" y="648000"/>
            <a:ext cx="1080000" cy="1224000"/>
          </a:xfrm>
          <a:prstGeom prst="rect">
            <a:avLst/>
          </a:prstGeom>
          <a:noFill/>
        </p:spPr>
        <p:txBody>
          <a:bodyPr wrap="square">
            <a:spAutoFit/>
          </a:bodyPr>
          <a:lstStyle/>
          <a:p>
            <a:pPr algn="ctr">
              <a:defRPr sz="1200" i="1">
                <a:solidFill>
                  <a:srgbClr val="7F8C8D"/>
                </a:solidFill>
              </a:defRPr>
            </a:pPr>
            <a:r>
              <a:t>[Logo entreprise]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Sommaire</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2</a:t>
            </a:r>
          </a:p>
        </p:txBody>
      </p:sp>
      <p:sp>
        <p:nvSpPr>
          <p:cNvPr id="7" name="TextBox 6"/>
          <p:cNvSpPr txBox="1"/>
          <p:nvPr/>
        </p:nvSpPr>
        <p:spPr>
          <a:xfrm>
            <a:off x="1080000" y="1080000"/>
            <a:ext cx="10080000" cy="5040000"/>
          </a:xfrm>
          <a:prstGeom prst="rect">
            <a:avLst/>
          </a:prstGeom>
          <a:noFill/>
        </p:spPr>
        <p:txBody>
          <a:bodyPr wrap="square">
            <a:spAutoFit/>
          </a:bodyPr>
          <a:lstStyle/>
          <a:p>
            <a:pPr>
              <a:spcAft>
                <a:spcPts val="1200"/>
              </a:spcAft>
              <a:defRPr sz="2000">
                <a:solidFill>
                  <a:srgbClr val="1A365D"/>
                </a:solidFill>
                <a:latin typeface="Calibri"/>
              </a:defRPr>
            </a:pPr>
            <a:r>
              <a:t>• 1. Contexte et objectifs</a:t>
            </a:r>
          </a:p>
          <a:p>
            <a:pPr>
              <a:spcAft>
                <a:spcPts val="1200"/>
              </a:spcAft>
              <a:defRPr sz="2000">
                <a:solidFill>
                  <a:srgbClr val="1A365D"/>
                </a:solidFill>
                <a:latin typeface="Calibri"/>
              </a:defRPr>
            </a:pPr>
            <a:r>
              <a:t>• 2. Application cible</a:t>
            </a:r>
          </a:p>
          <a:p>
            <a:pPr>
              <a:spcAft>
                <a:spcPts val="1200"/>
              </a:spcAft>
              <a:defRPr sz="2000">
                <a:solidFill>
                  <a:srgbClr val="1A365D"/>
                </a:solidFill>
                <a:latin typeface="Calibri"/>
              </a:defRPr>
            </a:pPr>
            <a:r>
              <a:t>• 3. Pipeline DevSecOps (9 étapes)</a:t>
            </a:r>
          </a:p>
          <a:p>
            <a:pPr>
              <a:spcAft>
                <a:spcPts val="1200"/>
              </a:spcAft>
              <a:defRPr sz="2000">
                <a:solidFill>
                  <a:srgbClr val="1A365D"/>
                </a:solidFill>
                <a:latin typeface="Calibri"/>
              </a:defRPr>
            </a:pPr>
            <a:r>
              <a:t>• 4. Stack technique</a:t>
            </a:r>
          </a:p>
          <a:p>
            <a:pPr>
              <a:spcAft>
                <a:spcPts val="1200"/>
              </a:spcAft>
              <a:defRPr sz="2000">
                <a:solidFill>
                  <a:srgbClr val="1A365D"/>
                </a:solidFill>
                <a:latin typeface="Calibri"/>
              </a:defRPr>
            </a:pPr>
            <a:r>
              <a:t>• 5. Résultats de l'analyse de sécurité</a:t>
            </a:r>
          </a:p>
          <a:p>
            <a:pPr>
              <a:spcAft>
                <a:spcPts val="1200"/>
              </a:spcAft>
              <a:defRPr sz="2000">
                <a:solidFill>
                  <a:srgbClr val="1A365D"/>
                </a:solidFill>
                <a:latin typeface="Calibri"/>
              </a:defRPr>
            </a:pPr>
            <a:r>
              <a:t>• 6. Plan de remédiation</a:t>
            </a:r>
          </a:p>
          <a:p>
            <a:pPr>
              <a:spcAft>
                <a:spcPts val="1200"/>
              </a:spcAft>
              <a:defRPr sz="2000">
                <a:solidFill>
                  <a:srgbClr val="1A365D"/>
                </a:solidFill>
                <a:latin typeface="Calibri"/>
              </a:defRPr>
            </a:pPr>
            <a:r>
              <a:t>• 7. Livrables</a:t>
            </a:r>
          </a:p>
          <a:p>
            <a:pPr>
              <a:spcAft>
                <a:spcPts val="1200"/>
              </a:spcAft>
              <a:defRPr sz="2000">
                <a:solidFill>
                  <a:srgbClr val="1A365D"/>
                </a:solidFill>
                <a:latin typeface="Calibri"/>
              </a:defRPr>
            </a:pPr>
            <a:r>
              <a:t>• 8. Démonstration</a:t>
            </a:r>
          </a:p>
          <a:p>
            <a:pPr>
              <a:spcAft>
                <a:spcPts val="1200"/>
              </a:spcAft>
              <a:defRPr sz="2000">
                <a:solidFill>
                  <a:srgbClr val="1A365D"/>
                </a:solidFill>
                <a:latin typeface="Calibri"/>
              </a:defRPr>
            </a:pPr>
            <a:r>
              <a:t>• 9. Conclusion et perspectives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1. Contexte et objectifs</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3</a:t>
            </a:r>
          </a:p>
        </p:txBody>
      </p:sp>
      <p:sp>
        <p:nvSpPr>
          <p:cNvPr id="7" name="TextBox 6"/>
          <p:cNvSpPr txBox="1"/>
          <p:nvPr/>
        </p:nvSpPr>
        <p:spPr>
          <a:xfrm>
            <a:off x="720000" y="1260000"/>
            <a:ext cx="5400000" cy="3600000"/>
          </a:xfrm>
          <a:prstGeom prst="rect">
            <a:avLst/>
          </a:prstGeom>
          <a:noFill/>
        </p:spPr>
        <p:txBody>
          <a:bodyPr wrap="square">
            <a:spAutoFit/>
          </a:bodyPr>
          <a:lstStyle/>
          <a:p>
            <a:pPr>
              <a:lnSpc>
                <a:spcPts val="2200"/>
              </a:lnSpc>
              <a:defRPr sz="1500">
                <a:solidFill>
                  <a:srgbClr val="1A202C"/>
                </a:solidFill>
                <a:latin typeface="Calibri"/>
              </a:defRPr>
            </a:pPr>
            <a:r>
              <a:t>Le stage consiste à sélectionner un prototype d'application open source</a:t>
            </a:r>
            <a:br/>
            <a:r>
              <a:t>sur GitHub et à mettre en œuvre une pipeline DevSecOps automatisant</a:t>
            </a:r>
            <a:br/>
            <a:r>
              <a:t>les contrôles de qualité, les tests unitaires et les vérifications de sécurité.</a:t>
            </a:r>
            <a:br/>
            <a:br/>
            <a:r>
              <a:t>L'approche « Shift Left Security » permet de détecter les vulnérabilités</a:t>
            </a:r>
            <a:br/>
            <a:r>
              <a:t>dès les premières étapes du développement, réduisant ainsi</a:t>
            </a:r>
            <a:br/>
            <a:r>
              <a:t>le coût et l'impact des corrections.</a:t>
            </a:r>
          </a:p>
        </p:txBody>
      </p:sp>
      <p:sp>
        <p:nvSpPr>
          <p:cNvPr id="8" name="Rectangle 7"/>
          <p:cNvSpPr/>
          <p:nvPr/>
        </p:nvSpPr>
        <p:spPr>
          <a:xfrm>
            <a:off x="6660000" y="1080000"/>
            <a:ext cx="5040000" cy="4320000"/>
          </a:xfrm>
          <a:prstGeom prst="rect">
            <a:avLst/>
          </a:prstGeom>
          <a:solidFill>
            <a:srgbClr val="F8F9FA"/>
          </a:solidFill>
          <a:ln w="19050">
            <a:solidFill>
              <a:srgbClr val="2B6C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12000" y="1188000"/>
            <a:ext cx="4500000" cy="432000"/>
          </a:xfrm>
          <a:prstGeom prst="rect">
            <a:avLst/>
          </a:prstGeom>
          <a:noFill/>
        </p:spPr>
        <p:txBody>
          <a:bodyPr wrap="square">
            <a:spAutoFit/>
          </a:bodyPr>
          <a:lstStyle/>
          <a:p>
            <a:pPr>
              <a:defRPr sz="2000" b="1" i="0">
                <a:solidFill>
                  <a:srgbClr val="1A365D"/>
                </a:solidFill>
                <a:latin typeface="Calibri"/>
              </a:defRPr>
            </a:pPr>
            <a:r>
              <a:t>Objectifs</a:t>
            </a:r>
          </a:p>
        </p:txBody>
      </p:sp>
      <p:sp>
        <p:nvSpPr>
          <p:cNvPr id="10" name="TextBox 9"/>
          <p:cNvSpPr txBox="1"/>
          <p:nvPr/>
        </p:nvSpPr>
        <p:spPr>
          <a:xfrm>
            <a:off x="7020000" y="1872000"/>
            <a:ext cx="4500000" cy="3240000"/>
          </a:xfrm>
          <a:prstGeom prst="rect">
            <a:avLst/>
          </a:prstGeom>
          <a:noFill/>
        </p:spPr>
        <p:txBody>
          <a:bodyPr wrap="square">
            <a:spAutoFit/>
          </a:bodyPr>
          <a:lstStyle/>
          <a:p>
            <a:pPr>
              <a:spcAft>
                <a:spcPts val="1000"/>
              </a:spcAft>
              <a:defRPr sz="1400">
                <a:solidFill>
                  <a:srgbClr val="1A202C"/>
                </a:solidFill>
                <a:latin typeface="Calibri"/>
              </a:defRPr>
            </a:pPr>
            <a:r>
              <a:t>• Utiliser un projet open source</a:t>
            </a:r>
            <a:br/>
            <a:r>
              <a:t>comme base de travail</a:t>
            </a:r>
          </a:p>
          <a:p>
            <a:pPr>
              <a:spcAft>
                <a:spcPts val="1000"/>
              </a:spcAft>
              <a:defRPr sz="1400">
                <a:solidFill>
                  <a:srgbClr val="1A202C"/>
                </a:solidFill>
                <a:latin typeface="Calibri"/>
              </a:defRPr>
            </a:pPr>
            <a:r>
              <a:t>• Mettre en place une pipeline</a:t>
            </a:r>
            <a:br/>
            <a:r>
              <a:t>CI/CD automatisée</a:t>
            </a:r>
          </a:p>
          <a:p>
            <a:pPr>
              <a:spcAft>
                <a:spcPts val="1000"/>
              </a:spcAft>
              <a:defRPr sz="1400">
                <a:solidFill>
                  <a:srgbClr val="1A202C"/>
                </a:solidFill>
                <a:latin typeface="Calibri"/>
              </a:defRPr>
            </a:pPr>
            <a:r>
              <a:t>• Intégrer un scan de qualité</a:t>
            </a:r>
            <a:br/>
            <a:r>
              <a:t>de code avec SonarQube</a:t>
            </a:r>
          </a:p>
          <a:p>
            <a:pPr>
              <a:spcAft>
                <a:spcPts val="1000"/>
              </a:spcAft>
              <a:defRPr sz="1400">
                <a:solidFill>
                  <a:srgbClr val="1A202C"/>
                </a:solidFill>
                <a:latin typeface="Calibri"/>
              </a:defRPr>
            </a:pPr>
            <a:r>
              <a:t>• Exécuter automatiquement</a:t>
            </a:r>
            <a:br/>
            <a:r>
              <a:t>les tests unitaires</a:t>
            </a:r>
          </a:p>
          <a:p>
            <a:pPr>
              <a:spcAft>
                <a:spcPts val="1000"/>
              </a:spcAft>
              <a:defRPr sz="1400">
                <a:solidFill>
                  <a:srgbClr val="1A202C"/>
                </a:solidFill>
                <a:latin typeface="Calibri"/>
              </a:defRPr>
            </a:pPr>
            <a:r>
              <a:t>• Réaliser des contrôles de</a:t>
            </a:r>
            <a:br/>
            <a:r>
              <a:t>sécurité (SAST + DAST)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2. Application cible — Conduit</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4</a:t>
            </a:r>
          </a:p>
        </p:txBody>
      </p:sp>
      <p:sp>
        <p:nvSpPr>
          <p:cNvPr id="7" name="TextBox 6"/>
          <p:cNvSpPr txBox="1"/>
          <p:nvPr/>
        </p:nvSpPr>
        <p:spPr>
          <a:xfrm>
            <a:off x="720000" y="1080000"/>
            <a:ext cx="10080000" cy="540000"/>
          </a:xfrm>
          <a:prstGeom prst="rect">
            <a:avLst/>
          </a:prstGeom>
          <a:noFill/>
        </p:spPr>
        <p:txBody>
          <a:bodyPr wrap="square">
            <a:spAutoFit/>
          </a:bodyPr>
          <a:lstStyle/>
          <a:p>
            <a:pPr>
              <a:defRPr sz="1400" b="0" i="1">
                <a:solidFill>
                  <a:srgbClr val="7F8C8D"/>
                </a:solidFill>
                <a:latin typeface="Calibri"/>
              </a:defRPr>
            </a:pPr>
            <a:r>
              <a:t>Clone de Medium.com — Backend Flask/Python, API REST complète</a:t>
            </a:r>
          </a:p>
        </p:txBody>
      </p:sp>
      <p:sp>
        <p:nvSpPr>
          <p:cNvPr id="8" name="TextBox 7"/>
          <p:cNvSpPr txBox="1"/>
          <p:nvPr/>
        </p:nvSpPr>
        <p:spPr>
          <a:xfrm>
            <a:off x="720000" y="1980000"/>
            <a:ext cx="5760000" cy="3600000"/>
          </a:xfrm>
          <a:prstGeom prst="rect">
            <a:avLst/>
          </a:prstGeom>
          <a:noFill/>
        </p:spPr>
        <p:txBody>
          <a:bodyPr wrap="square">
            <a:spAutoFit/>
          </a:bodyPr>
          <a:lstStyle/>
          <a:p>
            <a:pPr>
              <a:spcAft>
                <a:spcPts val="800"/>
              </a:spcAft>
              <a:defRPr sz="1500">
                <a:solidFill>
                  <a:srgbClr val="1A202C"/>
                </a:solidFill>
                <a:latin typeface="Calibri"/>
              </a:defRPr>
            </a:pPr>
            <a:r>
              <a:t>• Langage : Python 3.11 / Flask</a:t>
            </a:r>
          </a:p>
          <a:p>
            <a:pPr>
              <a:spcAft>
                <a:spcPts val="800"/>
              </a:spcAft>
              <a:defRPr sz="1500">
                <a:solidFill>
                  <a:srgbClr val="1A202C"/>
                </a:solidFill>
                <a:latin typeface="Calibri"/>
              </a:defRPr>
            </a:pPr>
            <a:r>
              <a:t>• Base de données : PostgreSQL via SQLAlchemy ORM</a:t>
            </a:r>
          </a:p>
          <a:p>
            <a:pPr>
              <a:spcAft>
                <a:spcPts val="800"/>
              </a:spcAft>
              <a:defRPr sz="1500">
                <a:solidFill>
                  <a:srgbClr val="1A202C"/>
                </a:solidFill>
                <a:latin typeface="Calibri"/>
              </a:defRPr>
            </a:pPr>
            <a:r>
              <a:t>• Authentification : JWT (Flask-JWT-Extended)</a:t>
            </a:r>
          </a:p>
          <a:p>
            <a:pPr>
              <a:spcAft>
                <a:spcPts val="800"/>
              </a:spcAft>
              <a:defRPr sz="1500">
                <a:solidFill>
                  <a:srgbClr val="1A202C"/>
                </a:solidFill>
                <a:latin typeface="Calibri"/>
              </a:defRPr>
            </a:pPr>
            <a:r>
              <a:t>• API REST : articles, commentaires, profils, favoris</a:t>
            </a:r>
          </a:p>
          <a:p>
            <a:pPr>
              <a:spcAft>
                <a:spcPts val="800"/>
              </a:spcAft>
              <a:defRPr sz="1500">
                <a:solidFill>
                  <a:srgbClr val="1A202C"/>
                </a:solidFill>
                <a:latin typeface="Calibri"/>
              </a:defRPr>
            </a:pPr>
            <a:r>
              <a:t>• Suite de tests : pytest (30 tests)</a:t>
            </a:r>
          </a:p>
          <a:p>
            <a:pPr>
              <a:spcAft>
                <a:spcPts val="800"/>
              </a:spcAft>
              <a:defRPr sz="1500">
                <a:solidFill>
                  <a:srgbClr val="1A202C"/>
                </a:solidFill>
                <a:latin typeface="Calibri"/>
              </a:defRPr>
            </a:pPr>
            <a:r>
              <a:t>• Licence MIT ~ 3 000 lignes de code</a:t>
            </a:r>
          </a:p>
        </p:txBody>
      </p:sp>
      <p:sp>
        <p:nvSpPr>
          <p:cNvPr id="9" name="Rectangle 8"/>
          <p:cNvSpPr/>
          <p:nvPr/>
        </p:nvSpPr>
        <p:spPr>
          <a:xfrm>
            <a:off x="6840000" y="1080000"/>
            <a:ext cx="4860000" cy="3600000"/>
          </a:xfrm>
          <a:prstGeom prst="rect">
            <a:avLst/>
          </a:prstGeom>
          <a:solidFill>
            <a:srgbClr val="F8F9FA"/>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20000" y="1188000"/>
            <a:ext cx="4500000" cy="360000"/>
          </a:xfrm>
          <a:prstGeom prst="rect">
            <a:avLst/>
          </a:prstGeom>
          <a:noFill/>
        </p:spPr>
        <p:txBody>
          <a:bodyPr wrap="square">
            <a:spAutoFit/>
          </a:bodyPr>
          <a:lstStyle/>
          <a:p>
            <a:pPr>
              <a:defRPr sz="1800" b="1" i="0">
                <a:solidFill>
                  <a:srgbClr val="1A365D"/>
                </a:solidFill>
                <a:latin typeface="Calibri"/>
              </a:defRPr>
            </a:pPr>
            <a:r>
              <a:t>Critères de sélection</a:t>
            </a:r>
          </a:p>
        </p:txBody>
      </p:sp>
      <p:sp>
        <p:nvSpPr>
          <p:cNvPr id="11" name="TextBox 10"/>
          <p:cNvSpPr txBox="1"/>
          <p:nvPr/>
        </p:nvSpPr>
        <p:spPr>
          <a:xfrm>
            <a:off x="7128000" y="1800000"/>
            <a:ext cx="4500000" cy="2700000"/>
          </a:xfrm>
          <a:prstGeom prst="rect">
            <a:avLst/>
          </a:prstGeom>
          <a:noFill/>
        </p:spPr>
        <p:txBody>
          <a:bodyPr wrap="square">
            <a:spAutoFit/>
          </a:bodyPr>
          <a:lstStyle/>
          <a:p>
            <a:pPr>
              <a:spcAft>
                <a:spcPts val="800"/>
              </a:spcAft>
              <a:defRPr sz="1300">
                <a:solidFill>
                  <a:srgbClr val="1A202C"/>
                </a:solidFill>
                <a:latin typeface="Calibri"/>
              </a:defRPr>
            </a:pPr>
            <a:r>
              <a:t>• Dépôt actif, licence permissive</a:t>
            </a:r>
          </a:p>
          <a:p>
            <a:pPr>
              <a:spcAft>
                <a:spcPts val="800"/>
              </a:spcAft>
              <a:defRPr sz="1300">
                <a:solidFill>
                  <a:srgbClr val="1A202C"/>
                </a:solidFill>
                <a:latin typeface="Calibri"/>
              </a:defRPr>
            </a:pPr>
            <a:r>
              <a:t>• Suite de tests déjà présente</a:t>
            </a:r>
          </a:p>
          <a:p>
            <a:pPr>
              <a:spcAft>
                <a:spcPts val="800"/>
              </a:spcAft>
              <a:defRPr sz="1300">
                <a:solidFill>
                  <a:srgbClr val="1A202C"/>
                </a:solidFill>
                <a:latin typeface="Calibri"/>
              </a:defRPr>
            </a:pPr>
            <a:r>
              <a:t>• Application web avec API REST</a:t>
            </a:r>
            <a:br/>
            <a:r>
              <a:t>(DAST applicable)</a:t>
            </a:r>
          </a:p>
          <a:p>
            <a:pPr>
              <a:spcAft>
                <a:spcPts val="800"/>
              </a:spcAft>
              <a:defRPr sz="1300">
                <a:solidFill>
                  <a:srgbClr val="1A202C"/>
                </a:solidFill>
                <a:latin typeface="Calibri"/>
              </a:defRPr>
            </a:pPr>
            <a:r>
              <a:t>• Taille raisonnable (&lt; 50k LOC)</a:t>
            </a:r>
          </a:p>
          <a:p>
            <a:pPr>
              <a:spcAft>
                <a:spcPts val="800"/>
              </a:spcAft>
              <a:defRPr sz="1300">
                <a:solidFill>
                  <a:srgbClr val="1A202C"/>
                </a:solidFill>
                <a:latin typeface="Calibri"/>
              </a:defRPr>
            </a:pPr>
            <a:r>
              <a:t>• Langage préféré : Python</a:t>
            </a:r>
          </a:p>
        </p:txBody>
      </p:sp>
      <p:sp>
        <p:nvSpPr>
          <p:cNvPr id="12" name="TextBox 11"/>
          <p:cNvSpPr txBox="1"/>
          <p:nvPr/>
        </p:nvSpPr>
        <p:spPr>
          <a:xfrm>
            <a:off x="7128000" y="4140000"/>
            <a:ext cx="4320000" cy="360000"/>
          </a:xfrm>
          <a:prstGeom prst="rect">
            <a:avLst/>
          </a:prstGeom>
          <a:noFill/>
        </p:spPr>
        <p:txBody>
          <a:bodyPr wrap="square">
            <a:spAutoFit/>
          </a:bodyPr>
          <a:lstStyle/>
          <a:p>
            <a:pPr>
              <a:defRPr sz="1000" b="0" i="1">
                <a:solidFill>
                  <a:srgbClr val="7F8C8D"/>
                </a:solidFill>
                <a:latin typeface="Calibri"/>
              </a:defRPr>
            </a:pPr>
            <a:r>
              <a:t>Dépôt : gothinkster/flask-realworld-example-app</a:t>
            </a:r>
          </a:p>
        </p:txBody>
      </p:sp>
      <p:sp>
        <p:nvSpPr>
          <p:cNvPr id="13" name="TextBox 12"/>
          <p:cNvSpPr txBox="1"/>
          <p:nvPr/>
        </p:nvSpPr>
        <p:spPr>
          <a:xfrm>
            <a:off x="7128000" y="4392000"/>
            <a:ext cx="4320000" cy="360000"/>
          </a:xfrm>
          <a:prstGeom prst="rect">
            <a:avLst/>
          </a:prstGeom>
          <a:noFill/>
        </p:spPr>
        <p:txBody>
          <a:bodyPr wrap="square">
            <a:spAutoFit/>
          </a:bodyPr>
          <a:lstStyle/>
          <a:p>
            <a:pPr>
              <a:defRPr sz="1000" b="0" i="1">
                <a:solidFill>
                  <a:srgbClr val="7F8C8D"/>
                </a:solidFill>
                <a:latin typeface="Calibri"/>
              </a:defRPr>
            </a:pPr>
            <a:r>
              <a:t>Commit : 4b95fb2 (stable, feature-complete)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3. Pipeline DevSecOps — Vue d'ensemble</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5</a:t>
            </a:r>
          </a:p>
        </p:txBody>
      </p:sp>
      <p:sp>
        <p:nvSpPr>
          <p:cNvPr id="7" name="Rectangle 6"/>
          <p:cNvSpPr/>
          <p:nvPr/>
        </p:nvSpPr>
        <p:spPr>
          <a:xfrm>
            <a:off x="720000" y="1080000"/>
            <a:ext cx="10800000" cy="4860000"/>
          </a:xfrm>
          <a:prstGeom prst="rect">
            <a:avLst/>
          </a:prstGeom>
          <a:solidFill>
            <a:srgbClr val="F8F9FA"/>
          </a:solidFill>
          <a:ln w="12700">
            <a:solidFill>
              <a:srgbClr val="7F8C8D"/>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0000" y="1188000"/>
            <a:ext cx="10440000" cy="4644000"/>
          </a:xfrm>
          <a:prstGeom prst="rect">
            <a:avLst/>
          </a:prstGeom>
          <a:noFill/>
        </p:spPr>
        <p:txBody>
          <a:bodyPr wrap="square">
            <a:spAutoFit/>
          </a:bodyPr>
          <a:lstStyle/>
          <a:p>
            <a:pPr algn="ctr">
              <a:defRPr sz="1200" i="1">
                <a:solidFill>
                  <a:srgbClr val="7F8C8D"/>
                </a:solidFill>
              </a:defRPr>
            </a:pPr>
            <a:r>
              <a:t>[Diagramme d'architecture — 9 étapes</a:t>
            </a:r>
            <a:br/>
            <a:br/>
            <a:r>
              <a:t>GitHub Repo → Vérification SHA → Gitleaks → Build</a:t>
            </a:r>
            <a:br/>
            <a:r>
              <a:t>→ SonarQube | Tests | SAST → Docker Build → Trivy</a:t>
            </a:r>
            <a:br/>
            <a:r>
              <a:t>→ Registry → Déploiement → Smoke Test → DAST → SUMMARY.md</a:t>
            </a:r>
            <a:br/>
            <a:br/>
            <a:r>
              <a:t>[ Ouvrir diagram.html dans un navigateur, faire une capture d'écran, et l'insérer ici ]]</a:t>
            </a:r>
          </a:p>
        </p:txBody>
      </p:sp>
      <p:sp>
        <p:nvSpPr>
          <p:cNvPr id="9" name="TextBox 8"/>
          <p:cNvSpPr txBox="1"/>
          <p:nvPr/>
        </p:nvSpPr>
        <p:spPr>
          <a:xfrm>
            <a:off x="720000" y="6120000"/>
            <a:ext cx="10800000" cy="360000"/>
          </a:xfrm>
          <a:prstGeom prst="rect">
            <a:avLst/>
          </a:prstGeom>
          <a:noFill/>
        </p:spPr>
        <p:txBody>
          <a:bodyPr wrap="square">
            <a:spAutoFit/>
          </a:bodyPr>
          <a:lstStyle/>
          <a:p>
            <a:pPr>
              <a:defRPr sz="1400" b="0" i="1">
                <a:solidFill>
                  <a:srgbClr val="7F8C8D"/>
                </a:solidFill>
                <a:latin typeface="Calibri"/>
              </a:defRPr>
            </a:pPr>
            <a:r>
              <a:t>9 étapes — Durée totale : ~15-20 minutes — 100% automatisé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3.1 Détail des 9 étapes</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6</a:t>
            </a:r>
          </a:p>
        </p:txBody>
      </p:sp>
      <p:graphicFrame>
        <p:nvGraphicFramePr>
          <p:cNvPr id="7" name="Table 6"/>
          <p:cNvGraphicFramePr>
            <a:graphicFrameLocks noGrp="1"/>
          </p:cNvGraphicFramePr>
          <p:nvPr/>
        </p:nvGraphicFramePr>
        <p:xfrm>
          <a:off x="720000" y="1260000"/>
          <a:ext cx="9900000" cy="3960000"/>
        </p:xfrm>
        <a:graphic>
          <a:graphicData uri="http://schemas.openxmlformats.org/drawingml/2006/table">
            <a:tbl>
              <a:tblPr firstRow="1" bandRow="1">
                <a:tableStyleId>{5C22544A-7EE6-4342-B048-85BDC9FD1C3A}</a:tableStyleId>
              </a:tblPr>
              <a:tblGrid>
                <a:gridCol w="1260000"/>
                <a:gridCol w="2700000"/>
                <a:gridCol w="900000"/>
                <a:gridCol w="5040000"/>
              </a:tblGrid>
              <a:tr h="396000">
                <a:tc>
                  <a:txBody>
                    <a:bodyPr/>
                    <a:lstStyle/>
                    <a:p>
                      <a:pPr algn="ctr">
                        <a:defRPr sz="1300" b="1">
                          <a:solidFill>
                            <a:srgbClr val="FFFFFF"/>
                          </a:solidFill>
                          <a:latin typeface="Calibri"/>
                        </a:defRPr>
                      </a:pPr>
                      <a:r>
                        <a:t>Étape</a:t>
                      </a:r>
                    </a:p>
                  </a:txBody>
                  <a:tcPr>
                    <a:solidFill>
                      <a:srgbClr val="1A365D"/>
                    </a:solidFill>
                  </a:tcPr>
                </a:tc>
                <a:tc>
                  <a:txBody>
                    <a:bodyPr/>
                    <a:lstStyle/>
                    <a:p>
                      <a:pPr algn="ctr">
                        <a:defRPr sz="1300" b="1">
                          <a:solidFill>
                            <a:srgbClr val="FFFFFF"/>
                          </a:solidFill>
                          <a:latin typeface="Calibri"/>
                        </a:defRPr>
                      </a:pPr>
                      <a:r>
                        <a:t>Outil / Script</a:t>
                      </a:r>
                    </a:p>
                  </a:txBody>
                  <a:tcPr>
                    <a:solidFill>
                      <a:srgbClr val="1A365D"/>
                    </a:solidFill>
                  </a:tcPr>
                </a:tc>
                <a:tc>
                  <a:txBody>
                    <a:bodyPr/>
                    <a:lstStyle/>
                    <a:p>
                      <a:pPr algn="ctr">
                        <a:defRPr sz="1300" b="1">
                          <a:solidFill>
                            <a:srgbClr val="FFFFFF"/>
                          </a:solidFill>
                          <a:latin typeface="Calibri"/>
                        </a:defRPr>
                      </a:pPr>
                      <a:r>
                        <a:t>Durée</a:t>
                      </a:r>
                    </a:p>
                  </a:txBody>
                  <a:tcPr>
                    <a:solidFill>
                      <a:srgbClr val="1A365D"/>
                    </a:solidFill>
                  </a:tcPr>
                </a:tc>
                <a:tc>
                  <a:txBody>
                    <a:bodyPr/>
                    <a:lstStyle/>
                    <a:p>
                      <a:pPr algn="ctr">
                        <a:defRPr sz="1300" b="1">
                          <a:solidFill>
                            <a:srgbClr val="FFFFFF"/>
                          </a:solidFill>
                          <a:latin typeface="Calibri"/>
                        </a:defRPr>
                      </a:pPr>
                      <a:r>
                        <a:t>Artefact</a:t>
                      </a:r>
                    </a:p>
                  </a:txBody>
                  <a:tcPr>
                    <a:solidFill>
                      <a:srgbClr val="1A365D"/>
                    </a:solidFill>
                  </a:tcPr>
                </a:tc>
              </a:tr>
              <a:tr h="396000">
                <a:tc>
                  <a:txBody>
                    <a:bodyPr/>
                    <a:lstStyle/>
                    <a:p>
                      <a:pPr>
                        <a:defRPr sz="1100">
                          <a:solidFill>
                            <a:srgbClr val="1A202C"/>
                          </a:solidFill>
                          <a:latin typeface="Calibri"/>
                        </a:defRPr>
                      </a:pPr>
                      <a:r>
                        <a:t>1 — Récupération code</a:t>
                      </a:r>
                    </a:p>
                  </a:txBody>
                  <a:tcPr>
                    <a:solidFill>
                      <a:srgbClr val="FFFFFF"/>
                    </a:solidFill>
                  </a:tcPr>
                </a:tc>
                <a:tc>
                  <a:txBody>
                    <a:bodyPr/>
                    <a:lstStyle/>
                    <a:p>
                      <a:pPr>
                        <a:defRPr sz="1100">
                          <a:solidFill>
                            <a:srgbClr val="1A202C"/>
                          </a:solidFill>
                          <a:latin typeface="Calibri"/>
                        </a:defRPr>
                      </a:pPr>
                      <a:r>
                        <a:t>verify_integrity.sh</a:t>
                      </a:r>
                    </a:p>
                  </a:txBody>
                  <a:tcPr>
                    <a:solidFill>
                      <a:srgbClr val="FFFFFF"/>
                    </a:solidFill>
                  </a:tcPr>
                </a:tc>
                <a:tc>
                  <a:txBody>
                    <a:bodyPr/>
                    <a:lstStyle/>
                    <a:p>
                      <a:pPr>
                        <a:defRPr sz="1100">
                          <a:solidFill>
                            <a:srgbClr val="1A202C"/>
                          </a:solidFill>
                          <a:latin typeface="Calibri"/>
                        </a:defRPr>
                      </a:pPr>
                      <a:r>
                        <a:t>~30s</a:t>
                      </a:r>
                    </a:p>
                  </a:txBody>
                  <a:tcPr>
                    <a:solidFill>
                      <a:srgbClr val="FFFFFF"/>
                    </a:solidFill>
                  </a:tcPr>
                </a:tc>
                <a:tc>
                  <a:txBody>
                    <a:bodyPr/>
                    <a:lstStyle/>
                    <a:p>
                      <a:pPr>
                        <a:defRPr sz="1100">
                          <a:solidFill>
                            <a:srgbClr val="1A202C"/>
                          </a:solidFill>
                          <a:latin typeface="Calibri"/>
                        </a:defRPr>
                      </a:pPr>
                      <a:r>
                        <a:t>clone-manifest.json</a:t>
                      </a:r>
                    </a:p>
                  </a:txBody>
                  <a:tcPr>
                    <a:solidFill>
                      <a:srgbClr val="FFFFFF"/>
                    </a:solidFill>
                  </a:tcPr>
                </a:tc>
              </a:tr>
              <a:tr h="396000">
                <a:tc>
                  <a:txBody>
                    <a:bodyPr/>
                    <a:lstStyle/>
                    <a:p>
                      <a:pPr>
                        <a:defRPr sz="1100">
                          <a:solidFill>
                            <a:srgbClr val="1A202C"/>
                          </a:solidFill>
                          <a:latin typeface="Calibri"/>
                        </a:defRPr>
                      </a:pPr>
                      <a:r>
                        <a:t>2 — Build</a:t>
                      </a:r>
                    </a:p>
                  </a:txBody>
                  <a:tcPr>
                    <a:solidFill>
                      <a:srgbClr val="F8F9FA"/>
                    </a:solidFill>
                  </a:tcPr>
                </a:tc>
                <a:tc>
                  <a:txBody>
                    <a:bodyPr/>
                    <a:lstStyle/>
                    <a:p>
                      <a:pPr>
                        <a:defRPr sz="1100">
                          <a:solidFill>
                            <a:srgbClr val="1A202C"/>
                          </a:solidFill>
                          <a:latin typeface="Calibri"/>
                        </a:defRPr>
                      </a:pPr>
                      <a:r>
                        <a:t>pip install</a:t>
                      </a:r>
                    </a:p>
                  </a:txBody>
                  <a:tcPr>
                    <a:solidFill>
                      <a:srgbClr val="F8F9FA"/>
                    </a:solidFill>
                  </a:tcPr>
                </a:tc>
                <a:tc>
                  <a:txBody>
                    <a:bodyPr/>
                    <a:lstStyle/>
                    <a:p>
                      <a:pPr>
                        <a:defRPr sz="1100">
                          <a:solidFill>
                            <a:srgbClr val="1A202C"/>
                          </a:solidFill>
                          <a:latin typeface="Calibri"/>
                        </a:defRPr>
                      </a:pPr>
                      <a:r>
                        <a:t>~2 min</a:t>
                      </a:r>
                    </a:p>
                  </a:txBody>
                  <a:tcPr>
                    <a:solidFill>
                      <a:srgbClr val="F8F9FA"/>
                    </a:solidFill>
                  </a:tcPr>
                </a:tc>
                <a:tc>
                  <a:txBody>
                    <a:bodyPr/>
                    <a:lstStyle/>
                    <a:p>
                      <a:pPr>
                        <a:defRPr sz="1100">
                          <a:solidFill>
                            <a:srgbClr val="1A202C"/>
                          </a:solidFill>
                          <a:latin typeface="Calibri"/>
                        </a:defRPr>
                      </a:pPr>
                      <a:r>
                        <a:t>build.log</a:t>
                      </a:r>
                    </a:p>
                  </a:txBody>
                  <a:tcPr>
                    <a:solidFill>
                      <a:srgbClr val="F8F9FA"/>
                    </a:solidFill>
                  </a:tcPr>
                </a:tc>
              </a:tr>
              <a:tr h="396000">
                <a:tc>
                  <a:txBody>
                    <a:bodyPr/>
                    <a:lstStyle/>
                    <a:p>
                      <a:pPr>
                        <a:defRPr sz="1100">
                          <a:solidFill>
                            <a:srgbClr val="1A202C"/>
                          </a:solidFill>
                          <a:latin typeface="Calibri"/>
                        </a:defRPr>
                      </a:pPr>
                      <a:r>
                        <a:t>3 — SonarQube</a:t>
                      </a:r>
                    </a:p>
                  </a:txBody>
                  <a:tcPr>
                    <a:solidFill>
                      <a:srgbClr val="FFFFFF"/>
                    </a:solidFill>
                  </a:tcPr>
                </a:tc>
                <a:tc>
                  <a:txBody>
                    <a:bodyPr/>
                    <a:lstStyle/>
                    <a:p>
                      <a:pPr>
                        <a:defRPr sz="1100">
                          <a:solidFill>
                            <a:srgbClr val="1A202C"/>
                          </a:solidFill>
                          <a:latin typeface="Calibri"/>
                        </a:defRPr>
                      </a:pPr>
                      <a:r>
                        <a:t>run_sonar.sh</a:t>
                      </a:r>
                    </a:p>
                  </a:txBody>
                  <a:tcPr>
                    <a:solidFill>
                      <a:srgbClr val="FFFFFF"/>
                    </a:solidFill>
                  </a:tcPr>
                </a:tc>
                <a:tc>
                  <a:txBody>
                    <a:bodyPr/>
                    <a:lstStyle/>
                    <a:p>
                      <a:pPr>
                        <a:defRPr sz="1100">
                          <a:solidFill>
                            <a:srgbClr val="1A202C"/>
                          </a:solidFill>
                          <a:latin typeface="Calibri"/>
                        </a:defRPr>
                      </a:pPr>
                      <a:r>
                        <a:t>~3 min</a:t>
                      </a:r>
                    </a:p>
                  </a:txBody>
                  <a:tcPr>
                    <a:solidFill>
                      <a:srgbClr val="FFFFFF"/>
                    </a:solidFill>
                  </a:tcPr>
                </a:tc>
                <a:tc>
                  <a:txBody>
                    <a:bodyPr/>
                    <a:lstStyle/>
                    <a:p>
                      <a:pPr>
                        <a:defRPr sz="1100">
                          <a:solidFill>
                            <a:srgbClr val="1A202C"/>
                          </a:solidFill>
                          <a:latin typeface="Calibri"/>
                        </a:defRPr>
                      </a:pPr>
                      <a:r>
                        <a:t>sonar-report.md</a:t>
                      </a:r>
                    </a:p>
                  </a:txBody>
                  <a:tcPr>
                    <a:solidFill>
                      <a:srgbClr val="FFFFFF"/>
                    </a:solidFill>
                  </a:tcPr>
                </a:tc>
              </a:tr>
              <a:tr h="396000">
                <a:tc>
                  <a:txBody>
                    <a:bodyPr/>
                    <a:lstStyle/>
                    <a:p>
                      <a:pPr>
                        <a:defRPr sz="1100">
                          <a:solidFill>
                            <a:srgbClr val="1A202C"/>
                          </a:solidFill>
                          <a:latin typeface="Calibri"/>
                        </a:defRPr>
                      </a:pPr>
                      <a:r>
                        <a:t>4 — Tests unitaires</a:t>
                      </a:r>
                    </a:p>
                  </a:txBody>
                  <a:tcPr>
                    <a:solidFill>
                      <a:srgbClr val="F8F9FA"/>
                    </a:solidFill>
                  </a:tcPr>
                </a:tc>
                <a:tc>
                  <a:txBody>
                    <a:bodyPr/>
                    <a:lstStyle/>
                    <a:p>
                      <a:pPr>
                        <a:defRPr sz="1100">
                          <a:solidFill>
                            <a:srgbClr val="1A202C"/>
                          </a:solidFill>
                          <a:latin typeface="Calibri"/>
                        </a:defRPr>
                      </a:pPr>
                      <a:r>
                        <a:t>pytest + coverage.py</a:t>
                      </a:r>
                    </a:p>
                  </a:txBody>
                  <a:tcPr>
                    <a:solidFill>
                      <a:srgbClr val="F8F9FA"/>
                    </a:solidFill>
                  </a:tcPr>
                </a:tc>
                <a:tc>
                  <a:txBody>
                    <a:bodyPr/>
                    <a:lstStyle/>
                    <a:p>
                      <a:pPr>
                        <a:defRPr sz="1100">
                          <a:solidFill>
                            <a:srgbClr val="1A202C"/>
                          </a:solidFill>
                          <a:latin typeface="Calibri"/>
                        </a:defRPr>
                      </a:pPr>
                      <a:r>
                        <a:t>~1 min</a:t>
                      </a:r>
                    </a:p>
                  </a:txBody>
                  <a:tcPr>
                    <a:solidFill>
                      <a:srgbClr val="F8F9FA"/>
                    </a:solidFill>
                  </a:tcPr>
                </a:tc>
                <a:tc>
                  <a:txBody>
                    <a:bodyPr/>
                    <a:lstStyle/>
                    <a:p>
                      <a:pPr>
                        <a:defRPr sz="1100">
                          <a:solidFill>
                            <a:srgbClr val="1A202C"/>
                          </a:solidFill>
                          <a:latin typeface="Calibri"/>
                        </a:defRPr>
                      </a:pPr>
                      <a:r>
                        <a:t>junit.xml, coverage.xml</a:t>
                      </a:r>
                    </a:p>
                  </a:txBody>
                  <a:tcPr>
                    <a:solidFill>
                      <a:srgbClr val="F8F9FA"/>
                    </a:solidFill>
                  </a:tcPr>
                </a:tc>
              </a:tr>
              <a:tr h="396000">
                <a:tc>
                  <a:txBody>
                    <a:bodyPr/>
                    <a:lstStyle/>
                    <a:p>
                      <a:pPr>
                        <a:defRPr sz="1100">
                          <a:solidFill>
                            <a:srgbClr val="1A202C"/>
                          </a:solidFill>
                          <a:latin typeface="Calibri"/>
                        </a:defRPr>
                      </a:pPr>
                      <a:r>
                        <a:t>5 — SAST</a:t>
                      </a:r>
                    </a:p>
                  </a:txBody>
                  <a:tcPr>
                    <a:solidFill>
                      <a:srgbClr val="FFFFFF"/>
                    </a:solidFill>
                  </a:tcPr>
                </a:tc>
                <a:tc>
                  <a:txBody>
                    <a:bodyPr/>
                    <a:lstStyle/>
                    <a:p>
                      <a:pPr>
                        <a:defRPr sz="1100">
                          <a:solidFill>
                            <a:srgbClr val="1A202C"/>
                          </a:solidFill>
                          <a:latin typeface="Calibri"/>
                        </a:defRPr>
                      </a:pPr>
                      <a:r>
                        <a:t>run_sast.sh</a:t>
                      </a:r>
                    </a:p>
                  </a:txBody>
                  <a:tcPr>
                    <a:solidFill>
                      <a:srgbClr val="FFFFFF"/>
                    </a:solidFill>
                  </a:tcPr>
                </a:tc>
                <a:tc>
                  <a:txBody>
                    <a:bodyPr/>
                    <a:lstStyle/>
                    <a:p>
                      <a:pPr>
                        <a:defRPr sz="1100">
                          <a:solidFill>
                            <a:srgbClr val="1A202C"/>
                          </a:solidFill>
                          <a:latin typeface="Calibri"/>
                        </a:defRPr>
                      </a:pPr>
                      <a:r>
                        <a:t>~2 min</a:t>
                      </a:r>
                    </a:p>
                  </a:txBody>
                  <a:tcPr>
                    <a:solidFill>
                      <a:srgbClr val="FFFFFF"/>
                    </a:solidFill>
                  </a:tcPr>
                </a:tc>
                <a:tc>
                  <a:txBody>
                    <a:bodyPr/>
                    <a:lstStyle/>
                    <a:p>
                      <a:pPr>
                        <a:defRPr sz="1100">
                          <a:solidFill>
                            <a:srgbClr val="1A202C"/>
                          </a:solidFill>
                          <a:latin typeface="Calibri"/>
                        </a:defRPr>
                      </a:pPr>
                      <a:r>
                        <a:t>semgrep.sarif, bandit.json</a:t>
                      </a:r>
                    </a:p>
                  </a:txBody>
                  <a:tcPr>
                    <a:solidFill>
                      <a:srgbClr val="FFFFFF"/>
                    </a:solidFill>
                  </a:tcPr>
                </a:tc>
              </a:tr>
              <a:tr h="396000">
                <a:tc>
                  <a:txBody>
                    <a:bodyPr/>
                    <a:lstStyle/>
                    <a:p>
                      <a:pPr>
                        <a:defRPr sz="1100">
                          <a:solidFill>
                            <a:srgbClr val="1A202C"/>
                          </a:solidFill>
                          <a:latin typeface="Calibri"/>
                        </a:defRPr>
                      </a:pPr>
                      <a:r>
                        <a:t>6 — Image Docker</a:t>
                      </a:r>
                    </a:p>
                  </a:txBody>
                  <a:tcPr>
                    <a:solidFill>
                      <a:srgbClr val="F8F9FA"/>
                    </a:solidFill>
                  </a:tcPr>
                </a:tc>
                <a:tc>
                  <a:txBody>
                    <a:bodyPr/>
                    <a:lstStyle/>
                    <a:p>
                      <a:pPr>
                        <a:defRPr sz="1100">
                          <a:solidFill>
                            <a:srgbClr val="1A202C"/>
                          </a:solidFill>
                          <a:latin typeface="Calibri"/>
                        </a:defRPr>
                      </a:pPr>
                      <a:r>
                        <a:t>build_image.sh</a:t>
                      </a:r>
                    </a:p>
                  </a:txBody>
                  <a:tcPr>
                    <a:solidFill>
                      <a:srgbClr val="F8F9FA"/>
                    </a:solidFill>
                  </a:tcPr>
                </a:tc>
                <a:tc>
                  <a:txBody>
                    <a:bodyPr/>
                    <a:lstStyle/>
                    <a:p>
                      <a:pPr>
                        <a:defRPr sz="1100">
                          <a:solidFill>
                            <a:srgbClr val="1A202C"/>
                          </a:solidFill>
                          <a:latin typeface="Calibri"/>
                        </a:defRPr>
                      </a:pPr>
                      <a:r>
                        <a:t>~3 min</a:t>
                      </a:r>
                    </a:p>
                  </a:txBody>
                  <a:tcPr>
                    <a:solidFill>
                      <a:srgbClr val="F8F9FA"/>
                    </a:solidFill>
                  </a:tcPr>
                </a:tc>
                <a:tc>
                  <a:txBody>
                    <a:bodyPr/>
                    <a:lstStyle/>
                    <a:p>
                      <a:pPr>
                        <a:defRPr sz="1100">
                          <a:solidFill>
                            <a:srgbClr val="1A202C"/>
                          </a:solidFill>
                          <a:latin typeface="Calibri"/>
                        </a:defRPr>
                      </a:pPr>
                      <a:r>
                        <a:t>trivy-image.json</a:t>
                      </a:r>
                    </a:p>
                  </a:txBody>
                  <a:tcPr>
                    <a:solidFill>
                      <a:srgbClr val="F8F9FA"/>
                    </a:solidFill>
                  </a:tcPr>
                </a:tc>
              </a:tr>
              <a:tr h="396000">
                <a:tc>
                  <a:txBody>
                    <a:bodyPr/>
                    <a:lstStyle/>
                    <a:p>
                      <a:pPr>
                        <a:defRPr sz="1100">
                          <a:solidFill>
                            <a:srgbClr val="1A202C"/>
                          </a:solidFill>
                          <a:latin typeface="Calibri"/>
                        </a:defRPr>
                      </a:pPr>
                      <a:r>
                        <a:t>7 — Déploiement</a:t>
                      </a:r>
                    </a:p>
                  </a:txBody>
                  <a:tcPr>
                    <a:solidFill>
                      <a:srgbClr val="FFFFFF"/>
                    </a:solidFill>
                  </a:tcPr>
                </a:tc>
                <a:tc>
                  <a:txBody>
                    <a:bodyPr/>
                    <a:lstStyle/>
                    <a:p>
                      <a:pPr>
                        <a:defRPr sz="1100">
                          <a:solidFill>
                            <a:srgbClr val="1A202C"/>
                          </a:solidFill>
                          <a:latin typeface="Calibri"/>
                        </a:defRPr>
                      </a:pPr>
                      <a:r>
                        <a:t>smoke_test.sh</a:t>
                      </a:r>
                    </a:p>
                  </a:txBody>
                  <a:tcPr>
                    <a:solidFill>
                      <a:srgbClr val="FFFFFF"/>
                    </a:solidFill>
                  </a:tcPr>
                </a:tc>
                <a:tc>
                  <a:txBody>
                    <a:bodyPr/>
                    <a:lstStyle/>
                    <a:p>
                      <a:pPr>
                        <a:defRPr sz="1100">
                          <a:solidFill>
                            <a:srgbClr val="1A202C"/>
                          </a:solidFill>
                          <a:latin typeface="Calibri"/>
                        </a:defRPr>
                      </a:pPr>
                      <a:r>
                        <a:t>~1 min</a:t>
                      </a:r>
                    </a:p>
                  </a:txBody>
                  <a:tcPr>
                    <a:solidFill>
                      <a:srgbClr val="FFFFFF"/>
                    </a:solidFill>
                  </a:tcPr>
                </a:tc>
                <a:tc>
                  <a:txBody>
                    <a:bodyPr/>
                    <a:lstStyle/>
                    <a:p>
                      <a:pPr>
                        <a:defRPr sz="1100">
                          <a:solidFill>
                            <a:srgbClr val="1A202C"/>
                          </a:solidFill>
                          <a:latin typeface="Calibri"/>
                        </a:defRPr>
                      </a:pPr>
                      <a:r>
                        <a:t>smoke-test.md</a:t>
                      </a:r>
                    </a:p>
                  </a:txBody>
                  <a:tcPr>
                    <a:solidFill>
                      <a:srgbClr val="FFFFFF"/>
                    </a:solidFill>
                  </a:tcPr>
                </a:tc>
              </a:tr>
              <a:tr h="396000">
                <a:tc>
                  <a:txBody>
                    <a:bodyPr/>
                    <a:lstStyle/>
                    <a:p>
                      <a:pPr>
                        <a:defRPr sz="1100">
                          <a:solidFill>
                            <a:srgbClr val="1A202C"/>
                          </a:solidFill>
                          <a:latin typeface="Calibri"/>
                        </a:defRPr>
                      </a:pPr>
                      <a:r>
                        <a:t>8 — DAST</a:t>
                      </a:r>
                    </a:p>
                  </a:txBody>
                  <a:tcPr>
                    <a:solidFill>
                      <a:srgbClr val="F8F9FA"/>
                    </a:solidFill>
                  </a:tcPr>
                </a:tc>
                <a:tc>
                  <a:txBody>
                    <a:bodyPr/>
                    <a:lstStyle/>
                    <a:p>
                      <a:pPr>
                        <a:defRPr sz="1100">
                          <a:solidFill>
                            <a:srgbClr val="1A202C"/>
                          </a:solidFill>
                          <a:latin typeface="Calibri"/>
                        </a:defRPr>
                      </a:pPr>
                      <a:r>
                        <a:t>run_dast.sh + run_scenarios.sh</a:t>
                      </a:r>
                    </a:p>
                  </a:txBody>
                  <a:tcPr>
                    <a:solidFill>
                      <a:srgbClr val="F8F9FA"/>
                    </a:solidFill>
                  </a:tcPr>
                </a:tc>
                <a:tc>
                  <a:txBody>
                    <a:bodyPr/>
                    <a:lstStyle/>
                    <a:p>
                      <a:pPr>
                        <a:defRPr sz="1100">
                          <a:solidFill>
                            <a:srgbClr val="1A202C"/>
                          </a:solidFill>
                          <a:latin typeface="Calibri"/>
                        </a:defRPr>
                      </a:pPr>
                      <a:r>
                        <a:t>~5 min</a:t>
                      </a:r>
                    </a:p>
                  </a:txBody>
                  <a:tcPr>
                    <a:solidFill>
                      <a:srgbClr val="F8F9FA"/>
                    </a:solidFill>
                  </a:tcPr>
                </a:tc>
                <a:tc>
                  <a:txBody>
                    <a:bodyPr/>
                    <a:lstStyle/>
                    <a:p>
                      <a:pPr>
                        <a:defRPr sz="1100">
                          <a:solidFill>
                            <a:srgbClr val="1A202C"/>
                          </a:solidFill>
                          <a:latin typeface="Calibri"/>
                        </a:defRPr>
                      </a:pPr>
                      <a:r>
                        <a:t>zap-baseline.html + 12 scénarios</a:t>
                      </a:r>
                    </a:p>
                  </a:txBody>
                  <a:tcPr>
                    <a:solidFill>
                      <a:srgbClr val="F8F9FA"/>
                    </a:solidFill>
                  </a:tcPr>
                </a:tc>
              </a:tr>
              <a:tr h="396000">
                <a:tc>
                  <a:txBody>
                    <a:bodyPr/>
                    <a:lstStyle/>
                    <a:p>
                      <a:pPr>
                        <a:defRPr sz="1100">
                          <a:solidFill>
                            <a:srgbClr val="1A202C"/>
                          </a:solidFill>
                          <a:latin typeface="Calibri"/>
                        </a:defRPr>
                      </a:pPr>
                      <a:r>
                        <a:t>9 — Rapports</a:t>
                      </a:r>
                    </a:p>
                  </a:txBody>
                  <a:tcPr>
                    <a:solidFill>
                      <a:srgbClr val="FFFFFF"/>
                    </a:solidFill>
                  </a:tcPr>
                </a:tc>
                <a:tc>
                  <a:txBody>
                    <a:bodyPr/>
                    <a:lstStyle/>
                    <a:p>
                      <a:pPr>
                        <a:defRPr sz="1100">
                          <a:solidFill>
                            <a:srgbClr val="1A202C"/>
                          </a:solidFill>
                          <a:latin typeface="Calibri"/>
                        </a:defRPr>
                      </a:pPr>
                      <a:r>
                        <a:t>aggregate_reports.py</a:t>
                      </a:r>
                    </a:p>
                  </a:txBody>
                  <a:tcPr>
                    <a:solidFill>
                      <a:srgbClr val="FFFFFF"/>
                    </a:solidFill>
                  </a:tcPr>
                </a:tc>
                <a:tc>
                  <a:txBody>
                    <a:bodyPr/>
                    <a:lstStyle/>
                    <a:p>
                      <a:pPr>
                        <a:defRPr sz="1100">
                          <a:solidFill>
                            <a:srgbClr val="1A202C"/>
                          </a:solidFill>
                          <a:latin typeface="Calibri"/>
                        </a:defRPr>
                      </a:pPr>
                      <a:r>
                        <a:t>~5s</a:t>
                      </a:r>
                    </a:p>
                  </a:txBody>
                  <a:tcPr>
                    <a:solidFill>
                      <a:srgbClr val="FFFFFF"/>
                    </a:solidFill>
                  </a:tcPr>
                </a:tc>
                <a:tc>
                  <a:txBody>
                    <a:bodyPr/>
                    <a:lstStyle/>
                    <a:p>
                      <a:pPr>
                        <a:defRPr sz="1100">
                          <a:solidFill>
                            <a:srgbClr val="1A202C"/>
                          </a:solidFill>
                          <a:latin typeface="Calibri"/>
                        </a:defRPr>
                      </a:pPr>
                      <a:r>
                        <a:t>SUMMARY.md</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4. Stack technique</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7</a:t>
            </a:r>
          </a:p>
        </p:txBody>
      </p:sp>
      <p:graphicFrame>
        <p:nvGraphicFramePr>
          <p:cNvPr id="7" name="Table 6"/>
          <p:cNvGraphicFramePr>
            <a:graphicFrameLocks noGrp="1"/>
          </p:cNvGraphicFramePr>
          <p:nvPr/>
        </p:nvGraphicFramePr>
        <p:xfrm>
          <a:off x="720000" y="1260000"/>
          <a:ext cx="11160000" cy="3564000"/>
        </p:xfrm>
        <a:graphic>
          <a:graphicData uri="http://schemas.openxmlformats.org/drawingml/2006/table">
            <a:tbl>
              <a:tblPr firstRow="1" bandRow="1">
                <a:tableStyleId>{5C22544A-7EE6-4342-B048-85BDC9FD1C3A}</a:tableStyleId>
              </a:tblPr>
              <a:tblGrid>
                <a:gridCol w="1440000"/>
                <a:gridCol w="3960000"/>
                <a:gridCol w="5760000"/>
              </a:tblGrid>
              <a:tr h="396000">
                <a:tc>
                  <a:txBody>
                    <a:bodyPr/>
                    <a:lstStyle/>
                    <a:p>
                      <a:pPr algn="ctr">
                        <a:defRPr sz="1300" b="1">
                          <a:solidFill>
                            <a:srgbClr val="FFFFFF"/>
                          </a:solidFill>
                          <a:latin typeface="Calibri"/>
                        </a:defRPr>
                      </a:pPr>
                      <a:r>
                        <a:t>Catégorie</a:t>
                      </a:r>
                    </a:p>
                  </a:txBody>
                  <a:tcPr>
                    <a:solidFill>
                      <a:srgbClr val="1A365D"/>
                    </a:solidFill>
                  </a:tcPr>
                </a:tc>
                <a:tc>
                  <a:txBody>
                    <a:bodyPr/>
                    <a:lstStyle/>
                    <a:p>
                      <a:pPr algn="ctr">
                        <a:defRPr sz="1300" b="1">
                          <a:solidFill>
                            <a:srgbClr val="FFFFFF"/>
                          </a:solidFill>
                          <a:latin typeface="Calibri"/>
                        </a:defRPr>
                      </a:pPr>
                      <a:r>
                        <a:t>Outil</a:t>
                      </a:r>
                    </a:p>
                  </a:txBody>
                  <a:tcPr>
                    <a:solidFill>
                      <a:srgbClr val="1A365D"/>
                    </a:solidFill>
                  </a:tcPr>
                </a:tc>
                <a:tc>
                  <a:txBody>
                    <a:bodyPr/>
                    <a:lstStyle/>
                    <a:p>
                      <a:pPr algn="ctr">
                        <a:defRPr sz="1300" b="1">
                          <a:solidFill>
                            <a:srgbClr val="FFFFFF"/>
                          </a:solidFill>
                          <a:latin typeface="Calibri"/>
                        </a:defRPr>
                      </a:pPr>
                      <a:r>
                        <a:t>Rôle</a:t>
                      </a:r>
                    </a:p>
                  </a:txBody>
                  <a:tcPr>
                    <a:solidFill>
                      <a:srgbClr val="1A365D"/>
                    </a:solidFill>
                  </a:tcPr>
                </a:tc>
              </a:tr>
              <a:tr h="396000">
                <a:tc>
                  <a:txBody>
                    <a:bodyPr/>
                    <a:lstStyle/>
                    <a:p>
                      <a:pPr>
                        <a:defRPr sz="1100">
                          <a:solidFill>
                            <a:srgbClr val="1A202C"/>
                          </a:solidFill>
                          <a:latin typeface="Calibri"/>
                        </a:defRPr>
                      </a:pPr>
                      <a:r>
                        <a:t>CI/CD</a:t>
                      </a:r>
                    </a:p>
                  </a:txBody>
                  <a:tcPr>
                    <a:solidFill>
                      <a:srgbClr val="FFFFFF"/>
                    </a:solidFill>
                  </a:tcPr>
                </a:tc>
                <a:tc>
                  <a:txBody>
                    <a:bodyPr/>
                    <a:lstStyle/>
                    <a:p>
                      <a:pPr>
                        <a:defRPr sz="1100">
                          <a:solidFill>
                            <a:srgbClr val="1A202C"/>
                          </a:solidFill>
                          <a:latin typeface="Calibri"/>
                        </a:defRPr>
                      </a:pPr>
                      <a:r>
                        <a:t>GitHub Actions + Jenkinsfile + Makefile</a:t>
                      </a:r>
                    </a:p>
                  </a:txBody>
                  <a:tcPr>
                    <a:solidFill>
                      <a:srgbClr val="FFFFFF"/>
                    </a:solidFill>
                  </a:tcPr>
                </a:tc>
                <a:tc>
                  <a:txBody>
                    <a:bodyPr/>
                    <a:lstStyle/>
                    <a:p>
                      <a:pPr>
                        <a:defRPr sz="1100">
                          <a:solidFill>
                            <a:srgbClr val="1A202C"/>
                          </a:solidFill>
                          <a:latin typeface="Calibri"/>
                        </a:defRPr>
                      </a:pPr>
                      <a:r>
                        <a:t>Orchestration de la pipeline</a:t>
                      </a:r>
                    </a:p>
                  </a:txBody>
                  <a:tcPr>
                    <a:solidFill>
                      <a:srgbClr val="FFFFFF"/>
                    </a:solidFill>
                  </a:tcPr>
                </a:tc>
              </a:tr>
              <a:tr h="396000">
                <a:tc>
                  <a:txBody>
                    <a:bodyPr/>
                    <a:lstStyle/>
                    <a:p>
                      <a:pPr>
                        <a:defRPr sz="1100">
                          <a:solidFill>
                            <a:srgbClr val="1A202C"/>
                          </a:solidFill>
                          <a:latin typeface="Calibri"/>
                        </a:defRPr>
                      </a:pPr>
                      <a:r>
                        <a:t>Qualité de code</a:t>
                      </a:r>
                    </a:p>
                  </a:txBody>
                  <a:tcPr>
                    <a:solidFill>
                      <a:srgbClr val="F8F9FA"/>
                    </a:solidFill>
                  </a:tcPr>
                </a:tc>
                <a:tc>
                  <a:txBody>
                    <a:bodyPr/>
                    <a:lstStyle/>
                    <a:p>
                      <a:pPr>
                        <a:defRPr sz="1100">
                          <a:solidFill>
                            <a:srgbClr val="1A202C"/>
                          </a:solidFill>
                          <a:latin typeface="Calibri"/>
                        </a:defRPr>
                      </a:pPr>
                      <a:r>
                        <a:t>SonarQube Community</a:t>
                      </a:r>
                    </a:p>
                  </a:txBody>
                  <a:tcPr>
                    <a:solidFill>
                      <a:srgbClr val="F8F9FA"/>
                    </a:solidFill>
                  </a:tcPr>
                </a:tc>
                <a:tc>
                  <a:txBody>
                    <a:bodyPr/>
                    <a:lstStyle/>
                    <a:p>
                      <a:pPr>
                        <a:defRPr sz="1100">
                          <a:solidFill>
                            <a:srgbClr val="1A202C"/>
                          </a:solidFill>
                          <a:latin typeface="Calibri"/>
                        </a:defRPr>
                      </a:pPr>
                      <a:r>
                        <a:t>Analyse de qualité (bugs, code smells)</a:t>
                      </a:r>
                    </a:p>
                  </a:txBody>
                  <a:tcPr>
                    <a:solidFill>
                      <a:srgbClr val="F8F9FA"/>
                    </a:solidFill>
                  </a:tcPr>
                </a:tc>
              </a:tr>
              <a:tr h="396000">
                <a:tc>
                  <a:txBody>
                    <a:bodyPr/>
                    <a:lstStyle/>
                    <a:p>
                      <a:pPr>
                        <a:defRPr sz="1100">
                          <a:solidFill>
                            <a:srgbClr val="1A202C"/>
                          </a:solidFill>
                          <a:latin typeface="Calibri"/>
                        </a:defRPr>
                      </a:pPr>
                      <a:r>
                        <a:t>Tests</a:t>
                      </a:r>
                    </a:p>
                  </a:txBody>
                  <a:tcPr>
                    <a:solidFill>
                      <a:srgbClr val="FFFFFF"/>
                    </a:solidFill>
                  </a:tcPr>
                </a:tc>
                <a:tc>
                  <a:txBody>
                    <a:bodyPr/>
                    <a:lstStyle/>
                    <a:p>
                      <a:pPr>
                        <a:defRPr sz="1100">
                          <a:solidFill>
                            <a:srgbClr val="1A202C"/>
                          </a:solidFill>
                          <a:latin typeface="Calibri"/>
                        </a:defRPr>
                      </a:pPr>
                      <a:r>
                        <a:t>pytest + coverage.py</a:t>
                      </a:r>
                    </a:p>
                  </a:txBody>
                  <a:tcPr>
                    <a:solidFill>
                      <a:srgbClr val="FFFFFF"/>
                    </a:solidFill>
                  </a:tcPr>
                </a:tc>
                <a:tc>
                  <a:txBody>
                    <a:bodyPr/>
                    <a:lstStyle/>
                    <a:p>
                      <a:pPr>
                        <a:defRPr sz="1100">
                          <a:solidFill>
                            <a:srgbClr val="1A202C"/>
                          </a:solidFill>
                          <a:latin typeface="Calibri"/>
                        </a:defRPr>
                      </a:pPr>
                      <a:r>
                        <a:t>Tests unitaires + couverture de code</a:t>
                      </a:r>
                    </a:p>
                  </a:txBody>
                  <a:tcPr>
                    <a:solidFill>
                      <a:srgbClr val="FFFFFF"/>
                    </a:solidFill>
                  </a:tcPr>
                </a:tc>
              </a:tr>
              <a:tr h="396000">
                <a:tc>
                  <a:txBody>
                    <a:bodyPr/>
                    <a:lstStyle/>
                    <a:p>
                      <a:pPr>
                        <a:defRPr sz="1100">
                          <a:solidFill>
                            <a:srgbClr val="1A202C"/>
                          </a:solidFill>
                          <a:latin typeface="Calibri"/>
                        </a:defRPr>
                      </a:pPr>
                      <a:r>
                        <a:t>SAST</a:t>
                      </a:r>
                    </a:p>
                  </a:txBody>
                  <a:tcPr>
                    <a:solidFill>
                      <a:srgbClr val="F8F9FA"/>
                    </a:solidFill>
                  </a:tcPr>
                </a:tc>
                <a:tc>
                  <a:txBody>
                    <a:bodyPr/>
                    <a:lstStyle/>
                    <a:p>
                      <a:pPr>
                        <a:defRPr sz="1100">
                          <a:solidFill>
                            <a:srgbClr val="1A202C"/>
                          </a:solidFill>
                          <a:latin typeface="Calibri"/>
                        </a:defRPr>
                      </a:pPr>
                      <a:r>
                        <a:t>Semgrep + Bandit + Gitleaks + pip-audit</a:t>
                      </a:r>
                    </a:p>
                  </a:txBody>
                  <a:tcPr>
                    <a:solidFill>
                      <a:srgbClr val="F8F9FA"/>
                    </a:solidFill>
                  </a:tcPr>
                </a:tc>
                <a:tc>
                  <a:txBody>
                    <a:bodyPr/>
                    <a:lstStyle/>
                    <a:p>
                      <a:pPr>
                        <a:defRPr sz="1100">
                          <a:solidFill>
                            <a:srgbClr val="1A202C"/>
                          </a:solidFill>
                          <a:latin typeface="Calibri"/>
                        </a:defRPr>
                      </a:pPr>
                      <a:r>
                        <a:t>Sécurité statique du code</a:t>
                      </a:r>
                    </a:p>
                  </a:txBody>
                  <a:tcPr>
                    <a:solidFill>
                      <a:srgbClr val="F8F9FA"/>
                    </a:solidFill>
                  </a:tcPr>
                </a:tc>
              </a:tr>
              <a:tr h="396000">
                <a:tc>
                  <a:txBody>
                    <a:bodyPr/>
                    <a:lstStyle/>
                    <a:p>
                      <a:pPr>
                        <a:defRPr sz="1100">
                          <a:solidFill>
                            <a:srgbClr val="1A202C"/>
                          </a:solidFill>
                          <a:latin typeface="Calibri"/>
                        </a:defRPr>
                      </a:pPr>
                      <a:r>
                        <a:t>Conteneurisation</a:t>
                      </a:r>
                    </a:p>
                  </a:txBody>
                  <a:tcPr>
                    <a:solidFill>
                      <a:srgbClr val="FFFFFF"/>
                    </a:solidFill>
                  </a:tcPr>
                </a:tc>
                <a:tc>
                  <a:txBody>
                    <a:bodyPr/>
                    <a:lstStyle/>
                    <a:p>
                      <a:pPr>
                        <a:defRPr sz="1100">
                          <a:solidFill>
                            <a:srgbClr val="1A202C"/>
                          </a:solidFill>
                          <a:latin typeface="Calibri"/>
                        </a:defRPr>
                      </a:pPr>
                      <a:r>
                        <a:t>Docker multi-stage (slim, non-root)</a:t>
                      </a:r>
                    </a:p>
                  </a:txBody>
                  <a:tcPr>
                    <a:solidFill>
                      <a:srgbClr val="FFFFFF"/>
                    </a:solidFill>
                  </a:tcPr>
                </a:tc>
                <a:tc>
                  <a:txBody>
                    <a:bodyPr/>
                    <a:lstStyle/>
                    <a:p>
                      <a:pPr>
                        <a:defRPr sz="1100">
                          <a:solidFill>
                            <a:srgbClr val="1A202C"/>
                          </a:solidFill>
                          <a:latin typeface="Calibri"/>
                        </a:defRPr>
                      </a:pPr>
                      <a:r>
                        <a:t>Image sécurisée et reproductible</a:t>
                      </a:r>
                    </a:p>
                  </a:txBody>
                  <a:tcPr>
                    <a:solidFill>
                      <a:srgbClr val="FFFFFF"/>
                    </a:solidFill>
                  </a:tcPr>
                </a:tc>
              </a:tr>
              <a:tr h="396000">
                <a:tc>
                  <a:txBody>
                    <a:bodyPr/>
                    <a:lstStyle/>
                    <a:p>
                      <a:pPr>
                        <a:defRPr sz="1100">
                          <a:solidFill>
                            <a:srgbClr val="1A202C"/>
                          </a:solidFill>
                          <a:latin typeface="Calibri"/>
                        </a:defRPr>
                      </a:pPr>
                      <a:r>
                        <a:t>Scan conteneur</a:t>
                      </a:r>
                    </a:p>
                  </a:txBody>
                  <a:tcPr>
                    <a:solidFill>
                      <a:srgbClr val="F8F9FA"/>
                    </a:solidFill>
                  </a:tcPr>
                </a:tc>
                <a:tc>
                  <a:txBody>
                    <a:bodyPr/>
                    <a:lstStyle/>
                    <a:p>
                      <a:pPr>
                        <a:defRPr sz="1100">
                          <a:solidFill>
                            <a:srgbClr val="1A202C"/>
                          </a:solidFill>
                          <a:latin typeface="Calibri"/>
                        </a:defRPr>
                      </a:pPr>
                      <a:r>
                        <a:t>Trivy</a:t>
                      </a:r>
                    </a:p>
                  </a:txBody>
                  <a:tcPr>
                    <a:solidFill>
                      <a:srgbClr val="F8F9FA"/>
                    </a:solidFill>
                  </a:tcPr>
                </a:tc>
                <a:tc>
                  <a:txBody>
                    <a:bodyPr/>
                    <a:lstStyle/>
                    <a:p>
                      <a:pPr>
                        <a:defRPr sz="1100">
                          <a:solidFill>
                            <a:srgbClr val="1A202C"/>
                          </a:solidFill>
                          <a:latin typeface="Calibri"/>
                        </a:defRPr>
                      </a:pPr>
                      <a:r>
                        <a:t>Vulnérabilités OS et paquets</a:t>
                      </a:r>
                    </a:p>
                  </a:txBody>
                  <a:tcPr>
                    <a:solidFill>
                      <a:srgbClr val="F8F9FA"/>
                    </a:solidFill>
                  </a:tcPr>
                </a:tc>
              </a:tr>
              <a:tr h="396000">
                <a:tc>
                  <a:txBody>
                    <a:bodyPr/>
                    <a:lstStyle/>
                    <a:p>
                      <a:pPr>
                        <a:defRPr sz="1100">
                          <a:solidFill>
                            <a:srgbClr val="1A202C"/>
                          </a:solidFill>
                          <a:latin typeface="Calibri"/>
                        </a:defRPr>
                      </a:pPr>
                      <a:r>
                        <a:t>DAST</a:t>
                      </a:r>
                    </a:p>
                  </a:txBody>
                  <a:tcPr>
                    <a:solidFill>
                      <a:srgbClr val="FFFFFF"/>
                    </a:solidFill>
                  </a:tcPr>
                </a:tc>
                <a:tc>
                  <a:txBody>
                    <a:bodyPr/>
                    <a:lstStyle/>
                    <a:p>
                      <a:pPr>
                        <a:defRPr sz="1100">
                          <a:solidFill>
                            <a:srgbClr val="1A202C"/>
                          </a:solidFill>
                          <a:latin typeface="Calibri"/>
                        </a:defRPr>
                      </a:pPr>
                      <a:r>
                        <a:t>OWASP ZAP + 12 scripts Python</a:t>
                      </a:r>
                    </a:p>
                  </a:txBody>
                  <a:tcPr>
                    <a:solidFill>
                      <a:srgbClr val="FFFFFF"/>
                    </a:solidFill>
                  </a:tcPr>
                </a:tc>
                <a:tc>
                  <a:txBody>
                    <a:bodyPr/>
                    <a:lstStyle/>
                    <a:p>
                      <a:pPr>
                        <a:defRPr sz="1100">
                          <a:solidFill>
                            <a:srgbClr val="1A202C"/>
                          </a:solidFill>
                          <a:latin typeface="Calibri"/>
                        </a:defRPr>
                      </a:pPr>
                      <a:r>
                        <a:t>Tests de sécurité dynamiques</a:t>
                      </a:r>
                    </a:p>
                  </a:txBody>
                  <a:tcPr>
                    <a:solidFill>
                      <a:srgbClr val="FFFFFF"/>
                    </a:solidFill>
                  </a:tcPr>
                </a:tc>
              </a:tr>
              <a:tr h="396000">
                <a:tc>
                  <a:txBody>
                    <a:bodyPr/>
                    <a:lstStyle/>
                    <a:p>
                      <a:pPr>
                        <a:defRPr sz="1100">
                          <a:solidFill>
                            <a:srgbClr val="1A202C"/>
                          </a:solidFill>
                          <a:latin typeface="Calibri"/>
                        </a:defRPr>
                      </a:pPr>
                      <a:r>
                        <a:t>Registre</a:t>
                      </a:r>
                    </a:p>
                  </a:txBody>
                  <a:tcPr>
                    <a:solidFill>
                      <a:srgbClr val="F8F9FA"/>
                    </a:solidFill>
                  </a:tcPr>
                </a:tc>
                <a:tc>
                  <a:txBody>
                    <a:bodyPr/>
                    <a:lstStyle/>
                    <a:p>
                      <a:pPr>
                        <a:defRPr sz="1100">
                          <a:solidFill>
                            <a:srgbClr val="1A202C"/>
                          </a:solidFill>
                          <a:latin typeface="Calibri"/>
                        </a:defRPr>
                      </a:pPr>
                      <a:r>
                        <a:t>registry:2 local</a:t>
                      </a:r>
                    </a:p>
                  </a:txBody>
                  <a:tcPr>
                    <a:solidFill>
                      <a:srgbClr val="F8F9FA"/>
                    </a:solidFill>
                  </a:tcPr>
                </a:tc>
                <a:tc>
                  <a:txBody>
                    <a:bodyPr/>
                    <a:lstStyle/>
                    <a:p>
                      <a:pPr>
                        <a:defRPr sz="1100">
                          <a:solidFill>
                            <a:srgbClr val="1A202C"/>
                          </a:solidFill>
                          <a:latin typeface="Calibri"/>
                        </a:defRPr>
                      </a:pPr>
                      <a:r>
                        <a:t>Stockage des images Docker</a:t>
                      </a:r>
                    </a:p>
                  </a:txBody>
                  <a:tcPr>
                    <a:solidFill>
                      <a:srgbClr val="F8F9FA"/>
                    </a:solidFill>
                  </a:tcPr>
                </a:tc>
              </a:tr>
            </a:tbl>
          </a:graphicData>
        </a:graphic>
      </p:graphicFrame>
      <p:sp>
        <p:nvSpPr>
          <p:cNvPr id="8" name="TextBox 7"/>
          <p:cNvSpPr txBox="1"/>
          <p:nvPr/>
        </p:nvSpPr>
        <p:spPr>
          <a:xfrm>
            <a:off x="720000" y="5760000"/>
            <a:ext cx="10800000" cy="432000"/>
          </a:xfrm>
          <a:prstGeom prst="rect">
            <a:avLst/>
          </a:prstGeom>
          <a:noFill/>
        </p:spPr>
        <p:txBody>
          <a:bodyPr wrap="square">
            <a:spAutoFit/>
          </a:bodyPr>
          <a:lstStyle/>
          <a:p>
            <a:pPr>
              <a:defRPr sz="1400" b="0" i="1">
                <a:solidFill>
                  <a:srgbClr val="27AE60"/>
                </a:solidFill>
                <a:latin typeface="Calibri"/>
              </a:defRPr>
            </a:pPr>
            <a:r>
              <a:t>Tous les outils sont open source et gratuits — pipeline 100% reproductible sur Ubuntu 22.04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4.1 Orchestration GitHub Actions</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8</a:t>
            </a:r>
          </a:p>
        </p:txBody>
      </p:sp>
      <p:sp>
        <p:nvSpPr>
          <p:cNvPr id="7" name="Rounded Rectangle 6"/>
          <p:cNvSpPr/>
          <p:nvPr/>
        </p:nvSpPr>
        <p:spPr>
          <a:xfrm>
            <a:off x="1080000" y="1440000"/>
            <a:ext cx="3060000" cy="3240000"/>
          </a:xfrm>
          <a:prstGeom prst="roundRect">
            <a:avLst/>
          </a:prstGeom>
          <a:solidFill>
            <a:srgbClr val="F8F9FA"/>
          </a:solidFill>
          <a:ln w="254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0000" y="1548000"/>
            <a:ext cx="2700000" cy="360000"/>
          </a:xfrm>
          <a:prstGeom prst="rect">
            <a:avLst/>
          </a:prstGeom>
          <a:noFill/>
        </p:spPr>
        <p:txBody>
          <a:bodyPr wrap="square">
            <a:spAutoFit/>
          </a:bodyPr>
          <a:lstStyle/>
          <a:p>
            <a:pPr>
              <a:defRPr sz="2200" b="1" i="0">
                <a:solidFill>
                  <a:srgbClr val="1A365D"/>
                </a:solidFill>
                <a:latin typeface="Consolas"/>
              </a:defRPr>
            </a:pPr>
            <a:r>
              <a:t>ci.yml</a:t>
            </a:r>
          </a:p>
        </p:txBody>
      </p:sp>
      <p:sp>
        <p:nvSpPr>
          <p:cNvPr id="9" name="TextBox 8"/>
          <p:cNvSpPr txBox="1"/>
          <p:nvPr/>
        </p:nvSpPr>
        <p:spPr>
          <a:xfrm>
            <a:off x="1260000" y="1980000"/>
            <a:ext cx="2700000" cy="360000"/>
          </a:xfrm>
          <a:prstGeom prst="rect">
            <a:avLst/>
          </a:prstGeom>
          <a:noFill/>
        </p:spPr>
        <p:txBody>
          <a:bodyPr wrap="square">
            <a:spAutoFit/>
          </a:bodyPr>
          <a:lstStyle/>
          <a:p>
            <a:pPr>
              <a:defRPr sz="1200" b="0" i="1">
                <a:solidFill>
                  <a:srgbClr val="7F8C8D"/>
                </a:solidFill>
                <a:latin typeface="Calibri"/>
              </a:defRPr>
            </a:pPr>
            <a:r>
              <a:t>push + PR sur main</a:t>
            </a:r>
          </a:p>
        </p:txBody>
      </p:sp>
      <p:sp>
        <p:nvSpPr>
          <p:cNvPr id="10" name="TextBox 9"/>
          <p:cNvSpPr txBox="1"/>
          <p:nvPr/>
        </p:nvSpPr>
        <p:spPr>
          <a:xfrm>
            <a:off x="1260000" y="2520000"/>
            <a:ext cx="2700000" cy="1800000"/>
          </a:xfrm>
          <a:prstGeom prst="rect">
            <a:avLst/>
          </a:prstGeom>
          <a:noFill/>
        </p:spPr>
        <p:txBody>
          <a:bodyPr wrap="square">
            <a:spAutoFit/>
          </a:bodyPr>
          <a:lstStyle/>
          <a:p>
            <a:pPr>
              <a:defRPr sz="1400" b="0" i="0">
                <a:solidFill>
                  <a:srgbClr val="1A202C"/>
                </a:solidFill>
                <a:latin typeface="Calibri"/>
              </a:defRPr>
            </a:pPr>
            <a:r>
              <a:t>Étapes 1-5</a:t>
            </a:r>
            <a:br/>
            <a:r>
              <a:t>Checkout → Build</a:t>
            </a:r>
            <a:br/>
            <a:r>
              <a:t>→ SonarQube → Tests</a:t>
            </a:r>
            <a:br/>
            <a:r>
              <a:t>→ SAST</a:t>
            </a:r>
          </a:p>
        </p:txBody>
      </p:sp>
      <p:sp>
        <p:nvSpPr>
          <p:cNvPr id="11" name="Rounded Rectangle 10"/>
          <p:cNvSpPr/>
          <p:nvPr/>
        </p:nvSpPr>
        <p:spPr>
          <a:xfrm>
            <a:off x="4860000" y="1440000"/>
            <a:ext cx="3060000" cy="3240000"/>
          </a:xfrm>
          <a:prstGeom prst="roundRect">
            <a:avLst/>
          </a:prstGeom>
          <a:solidFill>
            <a:srgbClr val="F8F9FA"/>
          </a:solidFill>
          <a:ln w="254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40000" y="1548000"/>
            <a:ext cx="2700000" cy="360000"/>
          </a:xfrm>
          <a:prstGeom prst="rect">
            <a:avLst/>
          </a:prstGeom>
          <a:noFill/>
        </p:spPr>
        <p:txBody>
          <a:bodyPr wrap="square">
            <a:spAutoFit/>
          </a:bodyPr>
          <a:lstStyle/>
          <a:p>
            <a:pPr>
              <a:defRPr sz="2200" b="1" i="0">
                <a:solidFill>
                  <a:srgbClr val="1A365D"/>
                </a:solidFill>
                <a:latin typeface="Consolas"/>
              </a:defRPr>
            </a:pPr>
            <a:r>
              <a:t>cd.yml</a:t>
            </a:r>
          </a:p>
        </p:txBody>
      </p:sp>
      <p:sp>
        <p:nvSpPr>
          <p:cNvPr id="13" name="TextBox 12"/>
          <p:cNvSpPr txBox="1"/>
          <p:nvPr/>
        </p:nvSpPr>
        <p:spPr>
          <a:xfrm>
            <a:off x="5040000" y="1980000"/>
            <a:ext cx="2700000" cy="360000"/>
          </a:xfrm>
          <a:prstGeom prst="rect">
            <a:avLst/>
          </a:prstGeom>
          <a:noFill/>
        </p:spPr>
        <p:txBody>
          <a:bodyPr wrap="square">
            <a:spAutoFit/>
          </a:bodyPr>
          <a:lstStyle/>
          <a:p>
            <a:pPr>
              <a:defRPr sz="1200" b="0" i="1">
                <a:solidFill>
                  <a:srgbClr val="7F8C8D"/>
                </a:solidFill>
                <a:latin typeface="Calibri"/>
              </a:defRPr>
            </a:pPr>
            <a:r>
              <a:t>push sur main</a:t>
            </a:r>
          </a:p>
        </p:txBody>
      </p:sp>
      <p:sp>
        <p:nvSpPr>
          <p:cNvPr id="14" name="TextBox 13"/>
          <p:cNvSpPr txBox="1"/>
          <p:nvPr/>
        </p:nvSpPr>
        <p:spPr>
          <a:xfrm>
            <a:off x="5040000" y="2520000"/>
            <a:ext cx="2700000" cy="1800000"/>
          </a:xfrm>
          <a:prstGeom prst="rect">
            <a:avLst/>
          </a:prstGeom>
          <a:noFill/>
        </p:spPr>
        <p:txBody>
          <a:bodyPr wrap="square">
            <a:spAutoFit/>
          </a:bodyPr>
          <a:lstStyle/>
          <a:p>
            <a:pPr>
              <a:defRPr sz="1400" b="0" i="0">
                <a:solidFill>
                  <a:srgbClr val="1A202C"/>
                </a:solidFill>
                <a:latin typeface="Calibri"/>
              </a:defRPr>
            </a:pPr>
            <a:r>
              <a:t>Étapes 6-8</a:t>
            </a:r>
            <a:br/>
            <a:r>
              <a:t>Image Docker → Trivy</a:t>
            </a:r>
            <a:br/>
            <a:r>
              <a:t>→ Déploiement → DAST</a:t>
            </a:r>
          </a:p>
        </p:txBody>
      </p:sp>
      <p:sp>
        <p:nvSpPr>
          <p:cNvPr id="15" name="Rounded Rectangle 14"/>
          <p:cNvSpPr/>
          <p:nvPr/>
        </p:nvSpPr>
        <p:spPr>
          <a:xfrm>
            <a:off x="8640000" y="1440000"/>
            <a:ext cx="3060000" cy="3240000"/>
          </a:xfrm>
          <a:prstGeom prst="roundRect">
            <a:avLst/>
          </a:prstGeom>
          <a:solidFill>
            <a:srgbClr val="F8F9FA"/>
          </a:solidFill>
          <a:ln w="254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20000" y="1548000"/>
            <a:ext cx="2700000" cy="360000"/>
          </a:xfrm>
          <a:prstGeom prst="rect">
            <a:avLst/>
          </a:prstGeom>
          <a:noFill/>
        </p:spPr>
        <p:txBody>
          <a:bodyPr wrap="square">
            <a:spAutoFit/>
          </a:bodyPr>
          <a:lstStyle/>
          <a:p>
            <a:pPr>
              <a:defRPr sz="2200" b="1" i="0">
                <a:solidFill>
                  <a:srgbClr val="1A365D"/>
                </a:solidFill>
                <a:latin typeface="Consolas"/>
              </a:defRPr>
            </a:pPr>
            <a:r>
              <a:t>nightly.yml</a:t>
            </a:r>
          </a:p>
        </p:txBody>
      </p:sp>
      <p:sp>
        <p:nvSpPr>
          <p:cNvPr id="17" name="TextBox 16"/>
          <p:cNvSpPr txBox="1"/>
          <p:nvPr/>
        </p:nvSpPr>
        <p:spPr>
          <a:xfrm>
            <a:off x="8820000" y="1980000"/>
            <a:ext cx="2700000" cy="360000"/>
          </a:xfrm>
          <a:prstGeom prst="rect">
            <a:avLst/>
          </a:prstGeom>
          <a:noFill/>
        </p:spPr>
        <p:txBody>
          <a:bodyPr wrap="square">
            <a:spAutoFit/>
          </a:bodyPr>
          <a:lstStyle/>
          <a:p>
            <a:pPr>
              <a:defRPr sz="1200" b="0" i="1">
                <a:solidFill>
                  <a:srgbClr val="7F8C8D"/>
                </a:solidFill>
                <a:latin typeface="Calibri"/>
              </a:defRPr>
            </a:pPr>
            <a:r>
              <a:t>cron 0 3 * * *</a:t>
            </a:r>
          </a:p>
        </p:txBody>
      </p:sp>
      <p:sp>
        <p:nvSpPr>
          <p:cNvPr id="18" name="TextBox 17"/>
          <p:cNvSpPr txBox="1"/>
          <p:nvPr/>
        </p:nvSpPr>
        <p:spPr>
          <a:xfrm>
            <a:off x="8820000" y="2520000"/>
            <a:ext cx="2700000" cy="1800000"/>
          </a:xfrm>
          <a:prstGeom prst="rect">
            <a:avLst/>
          </a:prstGeom>
          <a:noFill/>
        </p:spPr>
        <p:txBody>
          <a:bodyPr wrap="square">
            <a:spAutoFit/>
          </a:bodyPr>
          <a:lstStyle/>
          <a:p>
            <a:pPr>
              <a:defRPr sz="1400" b="0" i="0">
                <a:solidFill>
                  <a:srgbClr val="1A202C"/>
                </a:solidFill>
                <a:latin typeface="Calibri"/>
              </a:defRPr>
            </a:pPr>
            <a:r>
              <a:t>Scan complet</a:t>
            </a:r>
            <a:br/>
            <a:r>
              <a:t>ZAP actif + spider</a:t>
            </a:r>
            <a:br/>
            <a:r>
              <a:t>+ Dependency-Check</a:t>
            </a:r>
          </a:p>
        </p:txBody>
      </p:sp>
      <p:sp>
        <p:nvSpPr>
          <p:cNvPr id="19" name="TextBox 18"/>
          <p:cNvSpPr txBox="1"/>
          <p:nvPr/>
        </p:nvSpPr>
        <p:spPr>
          <a:xfrm>
            <a:off x="720000" y="5220000"/>
            <a:ext cx="10800000" cy="432000"/>
          </a:xfrm>
          <a:prstGeom prst="rect">
            <a:avLst/>
          </a:prstGeom>
          <a:noFill/>
        </p:spPr>
        <p:txBody>
          <a:bodyPr wrap="square">
            <a:spAutoFit/>
          </a:bodyPr>
          <a:lstStyle/>
          <a:p>
            <a:pPr>
              <a:defRPr sz="1300" b="0" i="1">
                <a:solidFill>
                  <a:srgbClr val="7F8C8D"/>
                </a:solidFill>
                <a:latin typeface="Calibri"/>
              </a:defRPr>
            </a:pPr>
            <a:r>
              <a:t>Jenkinsfile déclaratif équivalent fourni pour les environnements Jenkins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5. Résultats de l'analyse de sécurité</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9</a:t>
            </a:r>
          </a:p>
        </p:txBody>
      </p:sp>
      <p:sp>
        <p:nvSpPr>
          <p:cNvPr id="7" name="TextBox 6"/>
          <p:cNvSpPr txBox="1"/>
          <p:nvPr/>
        </p:nvSpPr>
        <p:spPr>
          <a:xfrm>
            <a:off x="1080000" y="1260000"/>
            <a:ext cx="2880000" cy="1440000"/>
          </a:xfrm>
          <a:prstGeom prst="rect">
            <a:avLst/>
          </a:prstGeom>
          <a:noFill/>
        </p:spPr>
        <p:txBody>
          <a:bodyPr wrap="square">
            <a:spAutoFit/>
          </a:bodyPr>
          <a:lstStyle/>
          <a:p>
            <a:pPr>
              <a:defRPr sz="9600" b="1" i="0">
                <a:solidFill>
                  <a:srgbClr val="1A365D"/>
                </a:solidFill>
                <a:latin typeface="Calibri"/>
              </a:defRPr>
            </a:pPr>
            <a:r>
              <a:t>20</a:t>
            </a:r>
          </a:p>
        </p:txBody>
      </p:sp>
      <p:sp>
        <p:nvSpPr>
          <p:cNvPr id="8" name="TextBox 7"/>
          <p:cNvSpPr txBox="1"/>
          <p:nvPr/>
        </p:nvSpPr>
        <p:spPr>
          <a:xfrm>
            <a:off x="1080000" y="2700000"/>
            <a:ext cx="2880000" cy="540000"/>
          </a:xfrm>
          <a:prstGeom prst="rect">
            <a:avLst/>
          </a:prstGeom>
          <a:noFill/>
        </p:spPr>
        <p:txBody>
          <a:bodyPr wrap="square">
            <a:spAutoFit/>
          </a:bodyPr>
          <a:lstStyle/>
          <a:p>
            <a:pPr>
              <a:defRPr sz="1800" b="0" i="0">
                <a:solidFill>
                  <a:srgbClr val="1A202C"/>
                </a:solidFill>
                <a:latin typeface="Calibri"/>
              </a:defRPr>
            </a:pPr>
            <a:r>
              <a:t>vulnérabilités</a:t>
            </a:r>
            <a:br/>
            <a:r>
              <a:t>identifiées</a:t>
            </a:r>
          </a:p>
        </p:txBody>
      </p:sp>
      <p:graphicFrame>
        <p:nvGraphicFramePr>
          <p:cNvPr id="9" name="Table 8"/>
          <p:cNvGraphicFramePr>
            <a:graphicFrameLocks noGrp="1"/>
          </p:cNvGraphicFramePr>
          <p:nvPr/>
        </p:nvGraphicFramePr>
        <p:xfrm>
          <a:off x="4680000" y="1260000"/>
          <a:ext cx="3600000" cy="1980000"/>
        </p:xfrm>
        <a:graphic>
          <a:graphicData uri="http://schemas.openxmlformats.org/drawingml/2006/table">
            <a:tbl>
              <a:tblPr firstRow="1" bandRow="1">
                <a:tableStyleId>{5C22544A-7EE6-4342-B048-85BDC9FD1C3A}</a:tableStyleId>
              </a:tblPr>
              <a:tblGrid>
                <a:gridCol w="1800000"/>
                <a:gridCol w="900000"/>
                <a:gridCol w="900000"/>
              </a:tblGrid>
              <a:tr h="396000">
                <a:tc>
                  <a:txBody>
                    <a:bodyPr/>
                    <a:lstStyle/>
                    <a:p>
                      <a:pPr algn="ctr">
                        <a:defRPr sz="1300" b="1">
                          <a:solidFill>
                            <a:srgbClr val="FFFFFF"/>
                          </a:solidFill>
                          <a:latin typeface="Calibri"/>
                        </a:defRPr>
                      </a:pPr>
                      <a:r>
                        <a:t>Sévérité</a:t>
                      </a:r>
                    </a:p>
                  </a:txBody>
                  <a:tcPr>
                    <a:solidFill>
                      <a:srgbClr val="1A365D"/>
                    </a:solidFill>
                  </a:tcPr>
                </a:tc>
                <a:tc>
                  <a:txBody>
                    <a:bodyPr/>
                    <a:lstStyle/>
                    <a:p>
                      <a:pPr algn="ctr">
                        <a:defRPr sz="1300" b="1">
                          <a:solidFill>
                            <a:srgbClr val="FFFFFF"/>
                          </a:solidFill>
                          <a:latin typeface="Calibri"/>
                        </a:defRPr>
                      </a:pPr>
                      <a:r>
                        <a:t>Nombre</a:t>
                      </a:r>
                    </a:p>
                  </a:txBody>
                  <a:tcPr>
                    <a:solidFill>
                      <a:srgbClr val="1A365D"/>
                    </a:solidFill>
                  </a:tcPr>
                </a:tc>
                <a:tc>
                  <a:txBody>
                    <a:bodyPr/>
                    <a:lstStyle/>
                    <a:p>
                      <a:pPr algn="ctr">
                        <a:defRPr sz="1300" b="1">
                          <a:solidFill>
                            <a:srgbClr val="FFFFFF"/>
                          </a:solidFill>
                          <a:latin typeface="Calibri"/>
                        </a:defRPr>
                      </a:pPr>
                      <a:r>
                        <a:t>%</a:t>
                      </a:r>
                    </a:p>
                  </a:txBody>
                  <a:tcPr>
                    <a:solidFill>
                      <a:srgbClr val="1A365D"/>
                    </a:solidFill>
                  </a:tcPr>
                </a:tc>
              </a:tr>
              <a:tr h="396000">
                <a:tc>
                  <a:txBody>
                    <a:bodyPr/>
                    <a:lstStyle/>
                    <a:p>
                      <a:pPr>
                        <a:defRPr sz="1100">
                          <a:solidFill>
                            <a:srgbClr val="1A202C"/>
                          </a:solidFill>
                          <a:latin typeface="Calibri"/>
                        </a:defRPr>
                      </a:pPr>
                      <a:r>
                        <a:t>🔴 CRITIQUE</a:t>
                      </a:r>
                    </a:p>
                  </a:txBody>
                  <a:tcPr>
                    <a:solidFill>
                      <a:srgbClr val="FFFFFF"/>
                    </a:solidFill>
                  </a:tcPr>
                </a:tc>
                <a:tc>
                  <a:txBody>
                    <a:bodyPr/>
                    <a:lstStyle/>
                    <a:p>
                      <a:pPr>
                        <a:defRPr sz="1100">
                          <a:solidFill>
                            <a:srgbClr val="1A202C"/>
                          </a:solidFill>
                          <a:latin typeface="Calibri"/>
                        </a:defRPr>
                      </a:pPr>
                      <a:r>
                        <a:t>1</a:t>
                      </a:r>
                    </a:p>
                  </a:txBody>
                  <a:tcPr>
                    <a:solidFill>
                      <a:srgbClr val="FFFFFF"/>
                    </a:solidFill>
                  </a:tcPr>
                </a:tc>
                <a:tc>
                  <a:txBody>
                    <a:bodyPr/>
                    <a:lstStyle/>
                    <a:p>
                      <a:pPr>
                        <a:defRPr sz="1100">
                          <a:solidFill>
                            <a:srgbClr val="1A202C"/>
                          </a:solidFill>
                          <a:latin typeface="Calibri"/>
                        </a:defRPr>
                      </a:pPr>
                      <a:r>
                        <a:t>5%</a:t>
                      </a:r>
                    </a:p>
                  </a:txBody>
                  <a:tcPr>
                    <a:solidFill>
                      <a:srgbClr val="FFFFFF"/>
                    </a:solidFill>
                  </a:tcPr>
                </a:tc>
              </a:tr>
              <a:tr h="396000">
                <a:tc>
                  <a:txBody>
                    <a:bodyPr/>
                    <a:lstStyle/>
                    <a:p>
                      <a:pPr>
                        <a:defRPr sz="1100">
                          <a:solidFill>
                            <a:srgbClr val="1A202C"/>
                          </a:solidFill>
                          <a:latin typeface="Calibri"/>
                        </a:defRPr>
                      </a:pPr>
                      <a:r>
                        <a:t>🔴 HAUTE</a:t>
                      </a:r>
                    </a:p>
                  </a:txBody>
                  <a:tcPr>
                    <a:solidFill>
                      <a:srgbClr val="F8F9FA"/>
                    </a:solidFill>
                  </a:tcPr>
                </a:tc>
                <a:tc>
                  <a:txBody>
                    <a:bodyPr/>
                    <a:lstStyle/>
                    <a:p>
                      <a:pPr>
                        <a:defRPr sz="1100">
                          <a:solidFill>
                            <a:srgbClr val="1A202C"/>
                          </a:solidFill>
                          <a:latin typeface="Calibri"/>
                        </a:defRPr>
                      </a:pPr>
                      <a:r>
                        <a:t>5</a:t>
                      </a:r>
                    </a:p>
                  </a:txBody>
                  <a:tcPr>
                    <a:solidFill>
                      <a:srgbClr val="F8F9FA"/>
                    </a:solidFill>
                  </a:tcPr>
                </a:tc>
                <a:tc>
                  <a:txBody>
                    <a:bodyPr/>
                    <a:lstStyle/>
                    <a:p>
                      <a:pPr>
                        <a:defRPr sz="1100">
                          <a:solidFill>
                            <a:srgbClr val="1A202C"/>
                          </a:solidFill>
                          <a:latin typeface="Calibri"/>
                        </a:defRPr>
                      </a:pPr>
                      <a:r>
                        <a:t>25%</a:t>
                      </a:r>
                    </a:p>
                  </a:txBody>
                  <a:tcPr>
                    <a:solidFill>
                      <a:srgbClr val="F8F9FA"/>
                    </a:solidFill>
                  </a:tcPr>
                </a:tc>
              </a:tr>
              <a:tr h="396000">
                <a:tc>
                  <a:txBody>
                    <a:bodyPr/>
                    <a:lstStyle/>
                    <a:p>
                      <a:pPr>
                        <a:defRPr sz="1100">
                          <a:solidFill>
                            <a:srgbClr val="1A202C"/>
                          </a:solidFill>
                          <a:latin typeface="Calibri"/>
                        </a:defRPr>
                      </a:pPr>
                      <a:r>
                        <a:t>🟡 MOYENNE</a:t>
                      </a:r>
                    </a:p>
                  </a:txBody>
                  <a:tcPr>
                    <a:solidFill>
                      <a:srgbClr val="FFFFFF"/>
                    </a:solidFill>
                  </a:tcPr>
                </a:tc>
                <a:tc>
                  <a:txBody>
                    <a:bodyPr/>
                    <a:lstStyle/>
                    <a:p>
                      <a:pPr>
                        <a:defRPr sz="1100">
                          <a:solidFill>
                            <a:srgbClr val="1A202C"/>
                          </a:solidFill>
                          <a:latin typeface="Calibri"/>
                        </a:defRPr>
                      </a:pPr>
                      <a:r>
                        <a:t>8</a:t>
                      </a:r>
                    </a:p>
                  </a:txBody>
                  <a:tcPr>
                    <a:solidFill>
                      <a:srgbClr val="FFFFFF"/>
                    </a:solidFill>
                  </a:tcPr>
                </a:tc>
                <a:tc>
                  <a:txBody>
                    <a:bodyPr/>
                    <a:lstStyle/>
                    <a:p>
                      <a:pPr>
                        <a:defRPr sz="1100">
                          <a:solidFill>
                            <a:srgbClr val="1A202C"/>
                          </a:solidFill>
                          <a:latin typeface="Calibri"/>
                        </a:defRPr>
                      </a:pPr>
                      <a:r>
                        <a:t>40%</a:t>
                      </a:r>
                    </a:p>
                  </a:txBody>
                  <a:tcPr>
                    <a:solidFill>
                      <a:srgbClr val="FFFFFF"/>
                    </a:solidFill>
                  </a:tcPr>
                </a:tc>
              </a:tr>
              <a:tr h="396000">
                <a:tc>
                  <a:txBody>
                    <a:bodyPr/>
                    <a:lstStyle/>
                    <a:p>
                      <a:pPr>
                        <a:defRPr sz="1100">
                          <a:solidFill>
                            <a:srgbClr val="1A202C"/>
                          </a:solidFill>
                          <a:latin typeface="Calibri"/>
                        </a:defRPr>
                      </a:pPr>
                      <a:r>
                        <a:t>🟢 BASSE</a:t>
                      </a:r>
                    </a:p>
                  </a:txBody>
                  <a:tcPr>
                    <a:solidFill>
                      <a:srgbClr val="F8F9FA"/>
                    </a:solidFill>
                  </a:tcPr>
                </a:tc>
                <a:tc>
                  <a:txBody>
                    <a:bodyPr/>
                    <a:lstStyle/>
                    <a:p>
                      <a:pPr>
                        <a:defRPr sz="1100">
                          <a:solidFill>
                            <a:srgbClr val="1A202C"/>
                          </a:solidFill>
                          <a:latin typeface="Calibri"/>
                        </a:defRPr>
                      </a:pPr>
                      <a:r>
                        <a:t>6</a:t>
                      </a:r>
                    </a:p>
                  </a:txBody>
                  <a:tcPr>
                    <a:solidFill>
                      <a:srgbClr val="F8F9FA"/>
                    </a:solidFill>
                  </a:tcPr>
                </a:tc>
                <a:tc>
                  <a:txBody>
                    <a:bodyPr/>
                    <a:lstStyle/>
                    <a:p>
                      <a:pPr>
                        <a:defRPr sz="1100">
                          <a:solidFill>
                            <a:srgbClr val="1A202C"/>
                          </a:solidFill>
                          <a:latin typeface="Calibri"/>
                        </a:defRPr>
                      </a:pPr>
                      <a:r>
                        <a:t>30%</a:t>
                      </a:r>
                    </a:p>
                  </a:txBody>
                  <a:tcPr>
                    <a:solidFill>
                      <a:srgbClr val="F8F9FA"/>
                    </a:solidFill>
                  </a:tcPr>
                </a:tc>
              </a:tr>
            </a:tbl>
          </a:graphicData>
        </a:graphic>
      </p:graphicFrame>
      <p:sp>
        <p:nvSpPr>
          <p:cNvPr id="10" name="TextBox 9"/>
          <p:cNvSpPr txBox="1"/>
          <p:nvPr/>
        </p:nvSpPr>
        <p:spPr>
          <a:xfrm>
            <a:off x="1080000" y="3960000"/>
            <a:ext cx="10080000" cy="360000"/>
          </a:xfrm>
          <a:prstGeom prst="rect">
            <a:avLst/>
          </a:prstGeom>
          <a:noFill/>
        </p:spPr>
        <p:txBody>
          <a:bodyPr wrap="square">
            <a:spAutoFit/>
          </a:bodyPr>
          <a:lstStyle/>
          <a:p>
            <a:pPr>
              <a:defRPr sz="2000" b="1" i="0">
                <a:solidFill>
                  <a:srgbClr val="E67E22"/>
                </a:solidFill>
                <a:latin typeface="Calibri"/>
              </a:defRPr>
            </a:pPr>
            <a:r>
              <a:t>Score de sécurité global : 55 / 100</a:t>
            </a:r>
          </a:p>
        </p:txBody>
      </p:sp>
      <p:sp>
        <p:nvSpPr>
          <p:cNvPr id="11" name="TextBox 10"/>
          <p:cNvSpPr txBox="1"/>
          <p:nvPr/>
        </p:nvSpPr>
        <p:spPr>
          <a:xfrm>
            <a:off x="1080000" y="4680000"/>
            <a:ext cx="5040000" cy="360000"/>
          </a:xfrm>
          <a:prstGeom prst="rect">
            <a:avLst/>
          </a:prstGeom>
          <a:noFill/>
        </p:spPr>
        <p:txBody>
          <a:bodyPr wrap="square">
            <a:spAutoFit/>
          </a:bodyPr>
          <a:lstStyle/>
          <a:p>
            <a:pPr>
              <a:defRPr sz="1500" b="0" i="0">
                <a:solidFill>
                  <a:srgbClr val="27AE60"/>
                </a:solidFill>
                <a:latin typeface="Calibri"/>
              </a:defRPr>
            </a:pPr>
            <a:r>
              <a:t>SonarQube Quality Gate : PASS</a:t>
            </a:r>
          </a:p>
        </p:txBody>
      </p:sp>
      <p:sp>
        <p:nvSpPr>
          <p:cNvPr id="12" name="TextBox 11"/>
          <p:cNvSpPr txBox="1"/>
          <p:nvPr/>
        </p:nvSpPr>
        <p:spPr>
          <a:xfrm>
            <a:off x="1080000" y="5220000"/>
            <a:ext cx="5040000" cy="360000"/>
          </a:xfrm>
          <a:prstGeom prst="rect">
            <a:avLst/>
          </a:prstGeom>
          <a:noFill/>
        </p:spPr>
        <p:txBody>
          <a:bodyPr wrap="square">
            <a:spAutoFit/>
          </a:bodyPr>
          <a:lstStyle/>
          <a:p>
            <a:pPr>
              <a:defRPr sz="1500" b="0" i="0">
                <a:solidFill>
                  <a:srgbClr val="27AE60"/>
                </a:solidFill>
                <a:latin typeface="Calibri"/>
              </a:defRPr>
            </a:pPr>
            <a:r>
              <a:t>Tests unitaires : 30/30 PASS, couverture 85%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5.1 Top 5 des risques</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10</a:t>
            </a:r>
          </a:p>
        </p:txBody>
      </p:sp>
      <p:graphicFrame>
        <p:nvGraphicFramePr>
          <p:cNvPr id="7" name="Table 6"/>
          <p:cNvGraphicFramePr>
            <a:graphicFrameLocks noGrp="1"/>
          </p:cNvGraphicFramePr>
          <p:nvPr/>
        </p:nvGraphicFramePr>
        <p:xfrm>
          <a:off x="720000" y="1260000"/>
          <a:ext cx="7560000" cy="2376000"/>
        </p:xfrm>
        <a:graphic>
          <a:graphicData uri="http://schemas.openxmlformats.org/drawingml/2006/table">
            <a:tbl>
              <a:tblPr firstRow="1" bandRow="1">
                <a:tableStyleId>{5C22544A-7EE6-4342-B048-85BDC9FD1C3A}</a:tableStyleId>
              </a:tblPr>
              <a:tblGrid>
                <a:gridCol w="540000"/>
                <a:gridCol w="5040000"/>
                <a:gridCol w="1260000"/>
                <a:gridCol w="720000"/>
              </a:tblGrid>
              <a:tr h="396000">
                <a:tc>
                  <a:txBody>
                    <a:bodyPr/>
                    <a:lstStyle/>
                    <a:p>
                      <a:pPr algn="ctr">
                        <a:defRPr sz="1300" b="1">
                          <a:solidFill>
                            <a:srgbClr val="FFFFFF"/>
                          </a:solidFill>
                          <a:latin typeface="Calibri"/>
                        </a:defRPr>
                      </a:pPr>
                      <a:r>
                        <a:t>#</a:t>
                      </a:r>
                    </a:p>
                  </a:txBody>
                  <a:tcPr>
                    <a:solidFill>
                      <a:srgbClr val="1A365D"/>
                    </a:solidFill>
                  </a:tcPr>
                </a:tc>
                <a:tc>
                  <a:txBody>
                    <a:bodyPr/>
                    <a:lstStyle/>
                    <a:p>
                      <a:pPr algn="ctr">
                        <a:defRPr sz="1300" b="1">
                          <a:solidFill>
                            <a:srgbClr val="FFFFFF"/>
                          </a:solidFill>
                          <a:latin typeface="Calibri"/>
                        </a:defRPr>
                      </a:pPr>
                      <a:r>
                        <a:t>Risque</a:t>
                      </a:r>
                    </a:p>
                  </a:txBody>
                  <a:tcPr>
                    <a:solidFill>
                      <a:srgbClr val="1A365D"/>
                    </a:solidFill>
                  </a:tcPr>
                </a:tc>
                <a:tc>
                  <a:txBody>
                    <a:bodyPr/>
                    <a:lstStyle/>
                    <a:p>
                      <a:pPr algn="ctr">
                        <a:defRPr sz="1300" b="1">
                          <a:solidFill>
                            <a:srgbClr val="FFFFFF"/>
                          </a:solidFill>
                          <a:latin typeface="Calibri"/>
                        </a:defRPr>
                      </a:pPr>
                      <a:r>
                        <a:t>Sévérité</a:t>
                      </a:r>
                    </a:p>
                  </a:txBody>
                  <a:tcPr>
                    <a:solidFill>
                      <a:srgbClr val="1A365D"/>
                    </a:solidFill>
                  </a:tcPr>
                </a:tc>
                <a:tc>
                  <a:txBody>
                    <a:bodyPr/>
                    <a:lstStyle/>
                    <a:p>
                      <a:pPr algn="ctr">
                        <a:defRPr sz="1300" b="1">
                          <a:solidFill>
                            <a:srgbClr val="FFFFFF"/>
                          </a:solidFill>
                          <a:latin typeface="Calibri"/>
                        </a:defRPr>
                      </a:pPr>
                      <a:r>
                        <a:t>CVSS</a:t>
                      </a:r>
                    </a:p>
                  </a:txBody>
                  <a:tcPr>
                    <a:solidFill>
                      <a:srgbClr val="1A365D"/>
                    </a:solidFill>
                  </a:tcPr>
                </a:tc>
              </a:tr>
              <a:tr h="396000">
                <a:tc>
                  <a:txBody>
                    <a:bodyPr/>
                    <a:lstStyle/>
                    <a:p>
                      <a:pPr>
                        <a:defRPr sz="1100">
                          <a:solidFill>
                            <a:srgbClr val="1A202C"/>
                          </a:solidFill>
                          <a:latin typeface="Calibri"/>
                        </a:defRPr>
                      </a:pPr>
                      <a:r>
                        <a:t>1</a:t>
                      </a:r>
                    </a:p>
                  </a:txBody>
                  <a:tcPr>
                    <a:solidFill>
                      <a:srgbClr val="FFFFFF"/>
                    </a:solidFill>
                  </a:tcPr>
                </a:tc>
                <a:tc>
                  <a:txBody>
                    <a:bodyPr/>
                    <a:lstStyle/>
                    <a:p>
                      <a:pPr>
                        <a:defRPr sz="1100">
                          <a:solidFill>
                            <a:srgbClr val="1A202C"/>
                          </a:solidFill>
                          <a:latin typeface="Calibri"/>
                        </a:defRPr>
                      </a:pPr>
                      <a:r>
                        <a:t>Clé secrète par défaut (SECRET_KEY)</a:t>
                      </a:r>
                    </a:p>
                  </a:txBody>
                  <a:tcPr>
                    <a:solidFill>
                      <a:srgbClr val="FFFFFF"/>
                    </a:solidFill>
                  </a:tcPr>
                </a:tc>
                <a:tc>
                  <a:txBody>
                    <a:bodyPr/>
                    <a:lstStyle/>
                    <a:p>
                      <a:pPr>
                        <a:defRPr sz="1100">
                          <a:solidFill>
                            <a:srgbClr val="1A202C"/>
                          </a:solidFill>
                          <a:latin typeface="Calibri"/>
                        </a:defRPr>
                      </a:pPr>
                      <a:r>
                        <a:t>CRITIQUE</a:t>
                      </a:r>
                    </a:p>
                  </a:txBody>
                  <a:tcPr>
                    <a:solidFill>
                      <a:srgbClr val="FFFFFF"/>
                    </a:solidFill>
                  </a:tcPr>
                </a:tc>
                <a:tc>
                  <a:txBody>
                    <a:bodyPr/>
                    <a:lstStyle/>
                    <a:p>
                      <a:pPr>
                        <a:defRPr sz="1100">
                          <a:solidFill>
                            <a:srgbClr val="1A202C"/>
                          </a:solidFill>
                          <a:latin typeface="Calibri"/>
                        </a:defRPr>
                      </a:pPr>
                      <a:r>
                        <a:t>9.8</a:t>
                      </a:r>
                    </a:p>
                  </a:txBody>
                  <a:tcPr>
                    <a:solidFill>
                      <a:srgbClr val="FFFFFF"/>
                    </a:solidFill>
                  </a:tcPr>
                </a:tc>
              </a:tr>
              <a:tr h="396000">
                <a:tc>
                  <a:txBody>
                    <a:bodyPr/>
                    <a:lstStyle/>
                    <a:p>
                      <a:pPr>
                        <a:defRPr sz="1100">
                          <a:solidFill>
                            <a:srgbClr val="1A202C"/>
                          </a:solidFill>
                          <a:latin typeface="Calibri"/>
                        </a:defRPr>
                      </a:pPr>
                      <a:r>
                        <a:t>2</a:t>
                      </a:r>
                    </a:p>
                  </a:txBody>
                  <a:tcPr>
                    <a:solidFill>
                      <a:srgbClr val="F8F9FA"/>
                    </a:solidFill>
                  </a:tcPr>
                </a:tc>
                <a:tc>
                  <a:txBody>
                    <a:bodyPr/>
                    <a:lstStyle/>
                    <a:p>
                      <a:pPr>
                        <a:defRPr sz="1100">
                          <a:solidFill>
                            <a:srgbClr val="1A202C"/>
                          </a:solidFill>
                          <a:latin typeface="Calibri"/>
                        </a:defRPr>
                      </a:pPr>
                      <a:r>
                        <a:t>CVE SQLAlchemy 1.1.9 — SQLi via order_by()</a:t>
                      </a:r>
                    </a:p>
                  </a:txBody>
                  <a:tcPr>
                    <a:solidFill>
                      <a:srgbClr val="F8F9FA"/>
                    </a:solidFill>
                  </a:tcPr>
                </a:tc>
                <a:tc>
                  <a:txBody>
                    <a:bodyPr/>
                    <a:lstStyle/>
                    <a:p>
                      <a:pPr>
                        <a:defRPr sz="1100">
                          <a:solidFill>
                            <a:srgbClr val="1A202C"/>
                          </a:solidFill>
                          <a:latin typeface="Calibri"/>
                        </a:defRPr>
                      </a:pPr>
                      <a:r>
                        <a:t>HAUTE</a:t>
                      </a:r>
                    </a:p>
                  </a:txBody>
                  <a:tcPr>
                    <a:solidFill>
                      <a:srgbClr val="F8F9FA"/>
                    </a:solidFill>
                  </a:tcPr>
                </a:tc>
                <a:tc>
                  <a:txBody>
                    <a:bodyPr/>
                    <a:lstStyle/>
                    <a:p>
                      <a:pPr>
                        <a:defRPr sz="1100">
                          <a:solidFill>
                            <a:srgbClr val="1A202C"/>
                          </a:solidFill>
                          <a:latin typeface="Calibri"/>
                        </a:defRPr>
                      </a:pPr>
                      <a:r>
                        <a:t>9.8</a:t>
                      </a:r>
                    </a:p>
                  </a:txBody>
                  <a:tcPr>
                    <a:solidFill>
                      <a:srgbClr val="F8F9FA"/>
                    </a:solidFill>
                  </a:tcPr>
                </a:tc>
              </a:tr>
              <a:tr h="396000">
                <a:tc>
                  <a:txBody>
                    <a:bodyPr/>
                    <a:lstStyle/>
                    <a:p>
                      <a:pPr>
                        <a:defRPr sz="1100">
                          <a:solidFill>
                            <a:srgbClr val="1A202C"/>
                          </a:solidFill>
                          <a:latin typeface="Calibri"/>
                        </a:defRPr>
                      </a:pPr>
                      <a:r>
                        <a:t>3</a:t>
                      </a:r>
                    </a:p>
                  </a:txBody>
                  <a:tcPr>
                    <a:solidFill>
                      <a:srgbClr val="FFFFFF"/>
                    </a:solidFill>
                  </a:tcPr>
                </a:tc>
                <a:tc>
                  <a:txBody>
                    <a:bodyPr/>
                    <a:lstStyle/>
                    <a:p>
                      <a:pPr>
                        <a:defRPr sz="1100">
                          <a:solidFill>
                            <a:srgbClr val="1A202C"/>
                          </a:solidFill>
                          <a:latin typeface="Calibri"/>
                        </a:defRPr>
                      </a:pPr>
                      <a:r>
                        <a:t>Absence de rate limiting sur login</a:t>
                      </a:r>
                    </a:p>
                  </a:txBody>
                  <a:tcPr>
                    <a:solidFill>
                      <a:srgbClr val="FFFFFF"/>
                    </a:solidFill>
                  </a:tcPr>
                </a:tc>
                <a:tc>
                  <a:txBody>
                    <a:bodyPr/>
                    <a:lstStyle/>
                    <a:p>
                      <a:pPr>
                        <a:defRPr sz="1100">
                          <a:solidFill>
                            <a:srgbClr val="1A202C"/>
                          </a:solidFill>
                          <a:latin typeface="Calibri"/>
                        </a:defRPr>
                      </a:pPr>
                      <a:r>
                        <a:t>HAUTE</a:t>
                      </a:r>
                    </a:p>
                  </a:txBody>
                  <a:tcPr>
                    <a:solidFill>
                      <a:srgbClr val="FFFFFF"/>
                    </a:solidFill>
                  </a:tcPr>
                </a:tc>
                <a:tc>
                  <a:txBody>
                    <a:bodyPr/>
                    <a:lstStyle/>
                    <a:p>
                      <a:pPr>
                        <a:defRPr sz="1100">
                          <a:solidFill>
                            <a:srgbClr val="1A202C"/>
                          </a:solidFill>
                          <a:latin typeface="Calibri"/>
                        </a:defRPr>
                      </a:pPr>
                      <a:r>
                        <a:t>7.5</a:t>
                      </a:r>
                    </a:p>
                  </a:txBody>
                  <a:tcPr>
                    <a:solidFill>
                      <a:srgbClr val="FFFFFF"/>
                    </a:solidFill>
                  </a:tcPr>
                </a:tc>
              </a:tr>
              <a:tr h="396000">
                <a:tc>
                  <a:txBody>
                    <a:bodyPr/>
                    <a:lstStyle/>
                    <a:p>
                      <a:pPr>
                        <a:defRPr sz="1100">
                          <a:solidFill>
                            <a:srgbClr val="1A202C"/>
                          </a:solidFill>
                          <a:latin typeface="Calibri"/>
                        </a:defRPr>
                      </a:pPr>
                      <a:r>
                        <a:t>4</a:t>
                      </a:r>
                    </a:p>
                  </a:txBody>
                  <a:tcPr>
                    <a:solidFill>
                      <a:srgbClr val="F8F9FA"/>
                    </a:solidFill>
                  </a:tcPr>
                </a:tc>
                <a:tc>
                  <a:txBody>
                    <a:bodyPr/>
                    <a:lstStyle/>
                    <a:p>
                      <a:pPr>
                        <a:defRPr sz="1100">
                          <a:solidFill>
                            <a:srgbClr val="1A202C"/>
                          </a:solidFill>
                          <a:latin typeface="Calibri"/>
                        </a:defRPr>
                      </a:pPr>
                      <a:r>
                        <a:t>Absence de TLS/SSL — HTTP uniquement</a:t>
                      </a:r>
                    </a:p>
                  </a:txBody>
                  <a:tcPr>
                    <a:solidFill>
                      <a:srgbClr val="F8F9FA"/>
                    </a:solidFill>
                  </a:tcPr>
                </a:tc>
                <a:tc>
                  <a:txBody>
                    <a:bodyPr/>
                    <a:lstStyle/>
                    <a:p>
                      <a:pPr>
                        <a:defRPr sz="1100">
                          <a:solidFill>
                            <a:srgbClr val="1A202C"/>
                          </a:solidFill>
                          <a:latin typeface="Calibri"/>
                        </a:defRPr>
                      </a:pPr>
                      <a:r>
                        <a:t>HAUTE</a:t>
                      </a:r>
                    </a:p>
                  </a:txBody>
                  <a:tcPr>
                    <a:solidFill>
                      <a:srgbClr val="F8F9FA"/>
                    </a:solidFill>
                  </a:tcPr>
                </a:tc>
                <a:tc>
                  <a:txBody>
                    <a:bodyPr/>
                    <a:lstStyle/>
                    <a:p>
                      <a:pPr>
                        <a:defRPr sz="1100">
                          <a:solidFill>
                            <a:srgbClr val="1A202C"/>
                          </a:solidFill>
                          <a:latin typeface="Calibri"/>
                        </a:defRPr>
                      </a:pPr>
                      <a:r>
                        <a:t>7.4</a:t>
                      </a:r>
                    </a:p>
                  </a:txBody>
                  <a:tcPr>
                    <a:solidFill>
                      <a:srgbClr val="F8F9FA"/>
                    </a:solidFill>
                  </a:tcPr>
                </a:tc>
              </a:tr>
              <a:tr h="396000">
                <a:tc>
                  <a:txBody>
                    <a:bodyPr/>
                    <a:lstStyle/>
                    <a:p>
                      <a:pPr>
                        <a:defRPr sz="1100">
                          <a:solidFill>
                            <a:srgbClr val="1A202C"/>
                          </a:solidFill>
                          <a:latin typeface="Calibri"/>
                        </a:defRPr>
                      </a:pPr>
                      <a:r>
                        <a:t>5</a:t>
                      </a:r>
                    </a:p>
                  </a:txBody>
                  <a:tcPr>
                    <a:solidFill>
                      <a:srgbClr val="FFFFFF"/>
                    </a:solidFill>
                  </a:tcPr>
                </a:tc>
                <a:tc>
                  <a:txBody>
                    <a:bodyPr/>
                    <a:lstStyle/>
                    <a:p>
                      <a:pPr>
                        <a:defRPr sz="1100">
                          <a:solidFill>
                            <a:srgbClr val="1A202C"/>
                          </a:solidFill>
                          <a:latin typeface="Calibri"/>
                        </a:defRPr>
                      </a:pPr>
                      <a:r>
                        <a:t>Absence de MAX_CONTENT_LENGTH</a:t>
                      </a:r>
                    </a:p>
                  </a:txBody>
                  <a:tcPr>
                    <a:solidFill>
                      <a:srgbClr val="FFFFFF"/>
                    </a:solidFill>
                  </a:tcPr>
                </a:tc>
                <a:tc>
                  <a:txBody>
                    <a:bodyPr/>
                    <a:lstStyle/>
                    <a:p>
                      <a:pPr>
                        <a:defRPr sz="1100">
                          <a:solidFill>
                            <a:srgbClr val="1A202C"/>
                          </a:solidFill>
                          <a:latin typeface="Calibri"/>
                        </a:defRPr>
                      </a:pPr>
                      <a:r>
                        <a:t>MOYENNE</a:t>
                      </a:r>
                    </a:p>
                  </a:txBody>
                  <a:tcPr>
                    <a:solidFill>
                      <a:srgbClr val="FFFFFF"/>
                    </a:solidFill>
                  </a:tcPr>
                </a:tc>
                <a:tc>
                  <a:txBody>
                    <a:bodyPr/>
                    <a:lstStyle/>
                    <a:p>
                      <a:pPr>
                        <a:defRPr sz="1100">
                          <a:solidFill>
                            <a:srgbClr val="1A202C"/>
                          </a:solidFill>
                          <a:latin typeface="Calibri"/>
                        </a:defRPr>
                      </a:pPr>
                      <a:r>
                        <a:t>5.3</a:t>
                      </a:r>
                    </a:p>
                  </a:txBody>
                  <a:tcPr>
                    <a:solidFill>
                      <a:srgbClr val="FFFFFF"/>
                    </a:solidFill>
                  </a:tcPr>
                </a:tc>
              </a:tr>
            </a:tbl>
          </a:graphicData>
        </a:graphic>
      </p:graphicFrame>
      <p:sp>
        <p:nvSpPr>
          <p:cNvPr id="8" name="Rectangle 7"/>
          <p:cNvSpPr/>
          <p:nvPr/>
        </p:nvSpPr>
        <p:spPr>
          <a:xfrm>
            <a:off x="720000" y="4140000"/>
            <a:ext cx="10800000" cy="1620000"/>
          </a:xfrm>
          <a:prstGeom prst="rect">
            <a:avLst/>
          </a:prstGeom>
          <a:solidFill>
            <a:srgbClr val="F8D7DA"/>
          </a:solidFill>
          <a:ln w="254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7999" y="4248000"/>
            <a:ext cx="10080000" cy="1440000"/>
          </a:xfrm>
          <a:prstGeom prst="rect">
            <a:avLst/>
          </a:prstGeom>
          <a:noFill/>
        </p:spPr>
        <p:txBody>
          <a:bodyPr wrap="square">
            <a:spAutoFit/>
          </a:bodyPr>
          <a:lstStyle/>
          <a:p>
            <a:pPr>
              <a:defRPr sz="1400" b="0" i="0">
                <a:solidFill>
                  <a:srgbClr val="721C24"/>
                </a:solidFill>
                <a:latin typeface="Calibri"/>
              </a:defRPr>
            </a:pPr>
            <a:r>
              <a:t>⚠ Risque n°1 : SECRET_KEY = 'secret-key' par défaut</a:t>
            </a:r>
            <a:br/>
            <a:br/>
            <a:r>
              <a:t>Un attaquant peut forger des tokens JWT valides pour n'importe quel utilisateur.</a:t>
            </a:r>
            <a:br/>
            <a:r>
              <a:t>→ Prise de contrôle complète de tous les comptes.</a:t>
            </a:r>
            <a:br/>
            <a:r>
              <a:t>→ CVSS 9.8 — score maximum.</a:t>
            </a:r>
            <a:br/>
            <a:r>
              <a:t>→ Correction : 3 lignes de code, 5 minutes.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5.2 Exemple — Vulnérabilité critique (F-10.1)</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11</a:t>
            </a:r>
          </a:p>
        </p:txBody>
      </p:sp>
      <p:sp>
        <p:nvSpPr>
          <p:cNvPr id="7" name="TextBox 6"/>
          <p:cNvSpPr txBox="1"/>
          <p:nvPr/>
        </p:nvSpPr>
        <p:spPr>
          <a:xfrm>
            <a:off x="720000" y="1152000"/>
            <a:ext cx="5040000" cy="360000"/>
          </a:xfrm>
          <a:prstGeom prst="rect">
            <a:avLst/>
          </a:prstGeom>
          <a:noFill/>
        </p:spPr>
        <p:txBody>
          <a:bodyPr wrap="square">
            <a:spAutoFit/>
          </a:bodyPr>
          <a:lstStyle/>
          <a:p>
            <a:pPr>
              <a:defRPr sz="1800" b="1" i="0">
                <a:solidFill>
                  <a:srgbClr val="C0392B"/>
                </a:solidFill>
                <a:latin typeface="Calibri"/>
              </a:defRPr>
            </a:pPr>
            <a:r>
              <a:t>Code vulnérable</a:t>
            </a:r>
          </a:p>
        </p:txBody>
      </p:sp>
      <p:sp>
        <p:nvSpPr>
          <p:cNvPr id="8" name="Rectangle 7"/>
          <p:cNvSpPr/>
          <p:nvPr/>
        </p:nvSpPr>
        <p:spPr>
          <a:xfrm>
            <a:off x="720000" y="1620000"/>
            <a:ext cx="5220000" cy="1260000"/>
          </a:xfrm>
          <a:prstGeom prst="rect">
            <a:avLst/>
          </a:prstGeom>
          <a:solidFill>
            <a:srgbClr val="F8D7DA"/>
          </a:solidFill>
          <a:ln>
            <a:solidFill>
              <a:srgbClr val="F8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999" y="1692000"/>
            <a:ext cx="5004000" cy="1116000"/>
          </a:xfrm>
          <a:prstGeom prst="rect">
            <a:avLst/>
          </a:prstGeom>
          <a:noFill/>
        </p:spPr>
        <p:txBody>
          <a:bodyPr wrap="square">
            <a:spAutoFit/>
          </a:bodyPr>
          <a:lstStyle/>
          <a:p>
            <a:pPr>
              <a:defRPr sz="1200">
                <a:solidFill>
                  <a:srgbClr val="721C24"/>
                </a:solidFill>
                <a:latin typeface="Consolas"/>
              </a:defRPr>
            </a:pPr>
            <a:r>
              <a:t># conduit/settings.py:10</a:t>
            </a:r>
            <a:br/>
            <a:r>
              <a:t>SECRET_KEY = os.environ.get(</a:t>
            </a:r>
            <a:br/>
            <a:r>
              <a:t>    'CONDUIT_SECRET', 'secret-key')</a:t>
            </a:r>
            <a:br/>
            <a:r>
              <a:t># TODO: Change me</a:t>
            </a:r>
          </a:p>
        </p:txBody>
      </p:sp>
      <p:sp>
        <p:nvSpPr>
          <p:cNvPr id="10" name="TextBox 9"/>
          <p:cNvSpPr txBox="1"/>
          <p:nvPr/>
        </p:nvSpPr>
        <p:spPr>
          <a:xfrm>
            <a:off x="6480000" y="1152000"/>
            <a:ext cx="5040000" cy="360000"/>
          </a:xfrm>
          <a:prstGeom prst="rect">
            <a:avLst/>
          </a:prstGeom>
          <a:noFill/>
        </p:spPr>
        <p:txBody>
          <a:bodyPr wrap="square">
            <a:spAutoFit/>
          </a:bodyPr>
          <a:lstStyle/>
          <a:p>
            <a:pPr>
              <a:defRPr sz="1800" b="1" i="0">
                <a:solidFill>
                  <a:srgbClr val="27AE60"/>
                </a:solidFill>
                <a:latin typeface="Calibri"/>
              </a:defRPr>
            </a:pPr>
            <a:r>
              <a:t>Code corrigé</a:t>
            </a:r>
          </a:p>
        </p:txBody>
      </p:sp>
      <p:sp>
        <p:nvSpPr>
          <p:cNvPr id="11" name="Rectangle 10"/>
          <p:cNvSpPr/>
          <p:nvPr/>
        </p:nvSpPr>
        <p:spPr>
          <a:xfrm>
            <a:off x="6480000" y="1620000"/>
            <a:ext cx="5220000" cy="1260000"/>
          </a:xfrm>
          <a:prstGeom prst="rect">
            <a:avLst/>
          </a:prstGeom>
          <a:solidFill>
            <a:srgbClr val="D4EDDA"/>
          </a:solidFill>
          <a:ln>
            <a:solidFill>
              <a:srgbClr val="D4E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8000" y="1692000"/>
            <a:ext cx="5004000" cy="1116000"/>
          </a:xfrm>
          <a:prstGeom prst="rect">
            <a:avLst/>
          </a:prstGeom>
          <a:noFill/>
        </p:spPr>
        <p:txBody>
          <a:bodyPr wrap="square">
            <a:spAutoFit/>
          </a:bodyPr>
          <a:lstStyle/>
          <a:p>
            <a:pPr>
              <a:defRPr sz="1200">
                <a:solidFill>
                  <a:srgbClr val="155724"/>
                </a:solidFill>
                <a:latin typeface="Consolas"/>
              </a:defRPr>
            </a:pPr>
            <a:r>
              <a:t>SECRET_KEY = os.environ.get(</a:t>
            </a:r>
            <a:br/>
            <a:r>
              <a:t>    'CONDUIT_SECRET')</a:t>
            </a:r>
            <a:br/>
            <a:r>
              <a:t>if not SECRET_KEY:</a:t>
            </a:r>
            <a:br/>
            <a:r>
              <a:t>    raise RuntimeError(</a:t>
            </a:r>
            <a:br/>
            <a:r>
              <a:t>        "CONDUIT_SECRET must be set")</a:t>
            </a:r>
          </a:p>
        </p:txBody>
      </p:sp>
      <p:sp>
        <p:nvSpPr>
          <p:cNvPr id="13" name="TextBox 12"/>
          <p:cNvSpPr txBox="1"/>
          <p:nvPr/>
        </p:nvSpPr>
        <p:spPr>
          <a:xfrm>
            <a:off x="720000" y="3600000"/>
            <a:ext cx="10800000" cy="360000"/>
          </a:xfrm>
          <a:prstGeom prst="rect">
            <a:avLst/>
          </a:prstGeom>
          <a:noFill/>
        </p:spPr>
        <p:txBody>
          <a:bodyPr wrap="square">
            <a:spAutoFit/>
          </a:bodyPr>
          <a:lstStyle/>
          <a:p>
            <a:pPr>
              <a:defRPr sz="1400" b="1" i="0">
                <a:solidFill>
                  <a:srgbClr val="C0392B"/>
                </a:solidFill>
                <a:latin typeface="Calibri"/>
              </a:defRPr>
            </a:pPr>
            <a:r>
              <a:t>CVSS v3.1 : 9.8  |  AV:N/AC:L/PR:N/UI:N/S:U/C:H/I:H/A:H</a:t>
            </a:r>
          </a:p>
        </p:txBody>
      </p:sp>
      <p:sp>
        <p:nvSpPr>
          <p:cNvPr id="14" name="TextBox 13"/>
          <p:cNvSpPr txBox="1"/>
          <p:nvPr/>
        </p:nvSpPr>
        <p:spPr>
          <a:xfrm>
            <a:off x="720000" y="4320000"/>
            <a:ext cx="10800000" cy="360000"/>
          </a:xfrm>
          <a:prstGeom prst="rect">
            <a:avLst/>
          </a:prstGeom>
          <a:noFill/>
        </p:spPr>
        <p:txBody>
          <a:bodyPr wrap="square">
            <a:spAutoFit/>
          </a:bodyPr>
          <a:lstStyle/>
          <a:p>
            <a:pPr>
              <a:defRPr sz="1600" b="0" i="0">
                <a:solidFill>
                  <a:srgbClr val="27AE60"/>
                </a:solidFill>
                <a:latin typeface="Calibri"/>
              </a:defRPr>
            </a:pPr>
            <a:r>
              <a:t>Difficulté de correction : S (3 lignes) — Temps estimé : 5 minutes</a:t>
            </a:r>
          </a:p>
        </p:txBody>
      </p:sp>
      <p:sp>
        <p:nvSpPr>
          <p:cNvPr id="15" name="TextBox 14"/>
          <p:cNvSpPr txBox="1"/>
          <p:nvPr/>
        </p:nvSpPr>
        <p:spPr>
          <a:xfrm>
            <a:off x="720000" y="5220000"/>
            <a:ext cx="10800000" cy="720000"/>
          </a:xfrm>
          <a:prstGeom prst="rect">
            <a:avLst/>
          </a:prstGeom>
          <a:noFill/>
        </p:spPr>
        <p:txBody>
          <a:bodyPr wrap="square">
            <a:spAutoFit/>
          </a:bodyPr>
          <a:lstStyle/>
          <a:p>
            <a:pPr>
              <a:defRPr sz="1400" b="0" i="0">
                <a:solidFill>
                  <a:srgbClr val="1A202C"/>
                </a:solidFill>
                <a:latin typeface="Calibri"/>
              </a:defRPr>
            </a:pPr>
            <a:r>
              <a:t>Impact : Contournement complet de l'authentification. Prise de contrôle de tous les comptes utilisateurs.</a:t>
            </a:r>
            <a:br/>
            <a:r>
              <a:t>Exploitation : jwt.encode({'identity': {'email': 'victim@test.com'}}, 'secret-key', algorithm='HS256')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5.3 Scénarios DAST (12 scénarios OWASP)</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12</a:t>
            </a:r>
          </a:p>
        </p:txBody>
      </p:sp>
      <p:graphicFrame>
        <p:nvGraphicFramePr>
          <p:cNvPr id="7" name="Table 6"/>
          <p:cNvGraphicFramePr>
            <a:graphicFrameLocks noGrp="1"/>
          </p:cNvGraphicFramePr>
          <p:nvPr/>
        </p:nvGraphicFramePr>
        <p:xfrm>
          <a:off x="720000" y="1260000"/>
          <a:ext cx="7380000" cy="5148000"/>
        </p:xfrm>
        <a:graphic>
          <a:graphicData uri="http://schemas.openxmlformats.org/drawingml/2006/table">
            <a:tbl>
              <a:tblPr firstRow="1" bandRow="1">
                <a:tableStyleId>{5C22544A-7EE6-4342-B048-85BDC9FD1C3A}</a:tableStyleId>
              </a:tblPr>
              <a:tblGrid>
                <a:gridCol w="540000"/>
                <a:gridCol w="5040000"/>
                <a:gridCol w="1800000"/>
              </a:tblGrid>
              <a:tr h="396000">
                <a:tc>
                  <a:txBody>
                    <a:bodyPr/>
                    <a:lstStyle/>
                    <a:p>
                      <a:pPr algn="ctr">
                        <a:defRPr sz="1300" b="1">
                          <a:solidFill>
                            <a:srgbClr val="FFFFFF"/>
                          </a:solidFill>
                          <a:latin typeface="Calibri"/>
                        </a:defRPr>
                      </a:pPr>
                      <a:r>
                        <a:t>#</a:t>
                      </a:r>
                    </a:p>
                  </a:txBody>
                  <a:tcPr>
                    <a:solidFill>
                      <a:srgbClr val="1A365D"/>
                    </a:solidFill>
                  </a:tcPr>
                </a:tc>
                <a:tc>
                  <a:txBody>
                    <a:bodyPr/>
                    <a:lstStyle/>
                    <a:p>
                      <a:pPr algn="ctr">
                        <a:defRPr sz="1300" b="1">
                          <a:solidFill>
                            <a:srgbClr val="FFFFFF"/>
                          </a:solidFill>
                          <a:latin typeface="Calibri"/>
                        </a:defRPr>
                      </a:pPr>
                      <a:r>
                        <a:t>Scénario</a:t>
                      </a:r>
                    </a:p>
                  </a:txBody>
                  <a:tcPr>
                    <a:solidFill>
                      <a:srgbClr val="1A365D"/>
                    </a:solidFill>
                  </a:tcPr>
                </a:tc>
                <a:tc>
                  <a:txBody>
                    <a:bodyPr/>
                    <a:lstStyle/>
                    <a:p>
                      <a:pPr algn="ctr">
                        <a:defRPr sz="1300" b="1">
                          <a:solidFill>
                            <a:srgbClr val="FFFFFF"/>
                          </a:solidFill>
                          <a:latin typeface="Calibri"/>
                        </a:defRPr>
                      </a:pPr>
                      <a:r>
                        <a:t>Sévérité max</a:t>
                      </a:r>
                    </a:p>
                  </a:txBody>
                  <a:tcPr>
                    <a:solidFill>
                      <a:srgbClr val="1A365D"/>
                    </a:solidFill>
                  </a:tcPr>
                </a:tc>
              </a:tr>
              <a:tr h="396000">
                <a:tc>
                  <a:txBody>
                    <a:bodyPr/>
                    <a:lstStyle/>
                    <a:p>
                      <a:pPr>
                        <a:defRPr sz="1100">
                          <a:solidFill>
                            <a:srgbClr val="1A202C"/>
                          </a:solidFill>
                          <a:latin typeface="Calibri"/>
                        </a:defRPr>
                      </a:pPr>
                      <a:r>
                        <a:t>1</a:t>
                      </a:r>
                    </a:p>
                  </a:txBody>
                  <a:tcPr>
                    <a:solidFill>
                      <a:srgbClr val="FFFFFF"/>
                    </a:solidFill>
                  </a:tcPr>
                </a:tc>
                <a:tc>
                  <a:txBody>
                    <a:bodyPr/>
                    <a:lstStyle/>
                    <a:p>
                      <a:pPr>
                        <a:defRPr sz="1100">
                          <a:solidFill>
                            <a:srgbClr val="1A202C"/>
                          </a:solidFill>
                          <a:latin typeface="Calibri"/>
                        </a:defRPr>
                      </a:pPr>
                      <a:r>
                        <a:t>SQL Injection</a:t>
                      </a:r>
                    </a:p>
                  </a:txBody>
                  <a:tcPr>
                    <a:solidFill>
                      <a:srgbClr val="FFFFFF"/>
                    </a:solidFill>
                  </a:tcPr>
                </a:tc>
                <a:tc>
                  <a:txBody>
                    <a:bodyPr/>
                    <a:lstStyle/>
                    <a:p>
                      <a:pPr>
                        <a:defRPr sz="1100">
                          <a:solidFill>
                            <a:srgbClr val="1A202C"/>
                          </a:solidFill>
                          <a:latin typeface="Calibri"/>
                        </a:defRPr>
                      </a:pPr>
                      <a:r>
                        <a:t>🔴 HAUTE</a:t>
                      </a:r>
                    </a:p>
                  </a:txBody>
                  <a:tcPr>
                    <a:solidFill>
                      <a:srgbClr val="FFFFFF"/>
                    </a:solidFill>
                  </a:tcPr>
                </a:tc>
              </a:tr>
              <a:tr h="396000">
                <a:tc>
                  <a:txBody>
                    <a:bodyPr/>
                    <a:lstStyle/>
                    <a:p>
                      <a:pPr>
                        <a:defRPr sz="1100">
                          <a:solidFill>
                            <a:srgbClr val="1A202C"/>
                          </a:solidFill>
                          <a:latin typeface="Calibri"/>
                        </a:defRPr>
                      </a:pPr>
                      <a:r>
                        <a:t>2</a:t>
                      </a:r>
                    </a:p>
                  </a:txBody>
                  <a:tcPr>
                    <a:solidFill>
                      <a:srgbClr val="F8F9FA"/>
                    </a:solidFill>
                  </a:tcPr>
                </a:tc>
                <a:tc>
                  <a:txBody>
                    <a:bodyPr/>
                    <a:lstStyle/>
                    <a:p>
                      <a:pPr>
                        <a:defRPr sz="1100">
                          <a:solidFill>
                            <a:srgbClr val="1A202C"/>
                          </a:solidFill>
                          <a:latin typeface="Calibri"/>
                        </a:defRPr>
                      </a:pPr>
                      <a:r>
                        <a:t>Man-in-the-Middle (MITM)</a:t>
                      </a:r>
                    </a:p>
                  </a:txBody>
                  <a:tcPr>
                    <a:solidFill>
                      <a:srgbClr val="F8F9FA"/>
                    </a:solidFill>
                  </a:tcPr>
                </a:tc>
                <a:tc>
                  <a:txBody>
                    <a:bodyPr/>
                    <a:lstStyle/>
                    <a:p>
                      <a:pPr>
                        <a:defRPr sz="1100">
                          <a:solidFill>
                            <a:srgbClr val="1A202C"/>
                          </a:solidFill>
                          <a:latin typeface="Calibri"/>
                        </a:defRPr>
                      </a:pPr>
                      <a:r>
                        <a:t>🔴 HAUTE</a:t>
                      </a:r>
                    </a:p>
                  </a:txBody>
                  <a:tcPr>
                    <a:solidFill>
                      <a:srgbClr val="F8F9FA"/>
                    </a:solidFill>
                  </a:tcPr>
                </a:tc>
              </a:tr>
              <a:tr h="396000">
                <a:tc>
                  <a:txBody>
                    <a:bodyPr/>
                    <a:lstStyle/>
                    <a:p>
                      <a:pPr>
                        <a:defRPr sz="1100">
                          <a:solidFill>
                            <a:srgbClr val="1A202C"/>
                          </a:solidFill>
                          <a:latin typeface="Calibri"/>
                        </a:defRPr>
                      </a:pPr>
                      <a:r>
                        <a:t>3</a:t>
                      </a:r>
                    </a:p>
                  </a:txBody>
                  <a:tcPr>
                    <a:solidFill>
                      <a:srgbClr val="FFFFFF"/>
                    </a:solidFill>
                  </a:tcPr>
                </a:tc>
                <a:tc>
                  <a:txBody>
                    <a:bodyPr/>
                    <a:lstStyle/>
                    <a:p>
                      <a:pPr>
                        <a:defRPr sz="1100">
                          <a:solidFill>
                            <a:srgbClr val="1A202C"/>
                          </a:solidFill>
                          <a:latin typeface="Calibri"/>
                        </a:defRPr>
                      </a:pPr>
                      <a:r>
                        <a:t>Broken Authentication</a:t>
                      </a:r>
                    </a:p>
                  </a:txBody>
                  <a:tcPr>
                    <a:solidFill>
                      <a:srgbClr val="FFFFFF"/>
                    </a:solidFill>
                  </a:tcPr>
                </a:tc>
                <a:tc>
                  <a:txBody>
                    <a:bodyPr/>
                    <a:lstStyle/>
                    <a:p>
                      <a:pPr>
                        <a:defRPr sz="1100">
                          <a:solidFill>
                            <a:srgbClr val="1A202C"/>
                          </a:solidFill>
                          <a:latin typeface="Calibri"/>
                        </a:defRPr>
                      </a:pPr>
                      <a:r>
                        <a:t>🔴 HAUTE</a:t>
                      </a:r>
                    </a:p>
                  </a:txBody>
                  <a:tcPr>
                    <a:solidFill>
                      <a:srgbClr val="FFFFFF"/>
                    </a:solidFill>
                  </a:tcPr>
                </a:tc>
              </a:tr>
              <a:tr h="396000">
                <a:tc>
                  <a:txBody>
                    <a:bodyPr/>
                    <a:lstStyle/>
                    <a:p>
                      <a:pPr>
                        <a:defRPr sz="1100">
                          <a:solidFill>
                            <a:srgbClr val="1A202C"/>
                          </a:solidFill>
                          <a:latin typeface="Calibri"/>
                        </a:defRPr>
                      </a:pPr>
                      <a:r>
                        <a:t>4</a:t>
                      </a:r>
                    </a:p>
                  </a:txBody>
                  <a:tcPr>
                    <a:solidFill>
                      <a:srgbClr val="F8F9FA"/>
                    </a:solidFill>
                  </a:tcPr>
                </a:tc>
                <a:tc>
                  <a:txBody>
                    <a:bodyPr/>
                    <a:lstStyle/>
                    <a:p>
                      <a:pPr>
                        <a:defRPr sz="1100">
                          <a:solidFill>
                            <a:srgbClr val="1A202C"/>
                          </a:solidFill>
                          <a:latin typeface="Calibri"/>
                        </a:defRPr>
                      </a:pPr>
                      <a:r>
                        <a:t>Session Hijacking</a:t>
                      </a:r>
                    </a:p>
                  </a:txBody>
                  <a:tcPr>
                    <a:solidFill>
                      <a:srgbClr val="F8F9FA"/>
                    </a:solidFill>
                  </a:tcPr>
                </a:tc>
                <a:tc>
                  <a:txBody>
                    <a:bodyPr/>
                    <a:lstStyle/>
                    <a:p>
                      <a:pPr>
                        <a:defRPr sz="1100">
                          <a:solidFill>
                            <a:srgbClr val="1A202C"/>
                          </a:solidFill>
                          <a:latin typeface="Calibri"/>
                        </a:defRPr>
                      </a:pPr>
                      <a:r>
                        <a:t>🟢 BASSE</a:t>
                      </a:r>
                    </a:p>
                  </a:txBody>
                  <a:tcPr>
                    <a:solidFill>
                      <a:srgbClr val="F8F9FA"/>
                    </a:solidFill>
                  </a:tcPr>
                </a:tc>
              </a:tr>
              <a:tr h="396000">
                <a:tc>
                  <a:txBody>
                    <a:bodyPr/>
                    <a:lstStyle/>
                    <a:p>
                      <a:pPr>
                        <a:defRPr sz="1100">
                          <a:solidFill>
                            <a:srgbClr val="1A202C"/>
                          </a:solidFill>
                          <a:latin typeface="Calibri"/>
                        </a:defRPr>
                      </a:pPr>
                      <a:r>
                        <a:t>5</a:t>
                      </a:r>
                    </a:p>
                  </a:txBody>
                  <a:tcPr>
                    <a:solidFill>
                      <a:srgbClr val="FFFFFF"/>
                    </a:solidFill>
                  </a:tcPr>
                </a:tc>
                <a:tc>
                  <a:txBody>
                    <a:bodyPr/>
                    <a:lstStyle/>
                    <a:p>
                      <a:pPr>
                        <a:defRPr sz="1100">
                          <a:solidFill>
                            <a:srgbClr val="1A202C"/>
                          </a:solidFill>
                          <a:latin typeface="Calibri"/>
                        </a:defRPr>
                      </a:pPr>
                      <a:r>
                        <a:t>Replay Attack</a:t>
                      </a:r>
                    </a:p>
                  </a:txBody>
                  <a:tcPr>
                    <a:solidFill>
                      <a:srgbClr val="FFFFFF"/>
                    </a:solidFill>
                  </a:tcPr>
                </a:tc>
                <a:tc>
                  <a:txBody>
                    <a:bodyPr/>
                    <a:lstStyle/>
                    <a:p>
                      <a:pPr>
                        <a:defRPr sz="1100">
                          <a:solidFill>
                            <a:srgbClr val="1A202C"/>
                          </a:solidFill>
                          <a:latin typeface="Calibri"/>
                        </a:defRPr>
                      </a:pPr>
                      <a:r>
                        <a:t>🟡 MOYENNE</a:t>
                      </a:r>
                    </a:p>
                  </a:txBody>
                  <a:tcPr>
                    <a:solidFill>
                      <a:srgbClr val="FFFFFF"/>
                    </a:solidFill>
                  </a:tcPr>
                </a:tc>
              </a:tr>
              <a:tr h="396000">
                <a:tc>
                  <a:txBody>
                    <a:bodyPr/>
                    <a:lstStyle/>
                    <a:p>
                      <a:pPr>
                        <a:defRPr sz="1100">
                          <a:solidFill>
                            <a:srgbClr val="1A202C"/>
                          </a:solidFill>
                          <a:latin typeface="Calibri"/>
                        </a:defRPr>
                      </a:pPr>
                      <a:r>
                        <a:t>6</a:t>
                      </a:r>
                    </a:p>
                  </a:txBody>
                  <a:tcPr>
                    <a:solidFill>
                      <a:srgbClr val="F8F9FA"/>
                    </a:solidFill>
                  </a:tcPr>
                </a:tc>
                <a:tc>
                  <a:txBody>
                    <a:bodyPr/>
                    <a:lstStyle/>
                    <a:p>
                      <a:pPr>
                        <a:defRPr sz="1100">
                          <a:solidFill>
                            <a:srgbClr val="1A202C"/>
                          </a:solidFill>
                          <a:latin typeface="Calibri"/>
                        </a:defRPr>
                      </a:pPr>
                      <a:r>
                        <a:t>Privilege Escalation</a:t>
                      </a:r>
                    </a:p>
                  </a:txBody>
                  <a:tcPr>
                    <a:solidFill>
                      <a:srgbClr val="F8F9FA"/>
                    </a:solidFill>
                  </a:tcPr>
                </a:tc>
                <a:tc>
                  <a:txBody>
                    <a:bodyPr/>
                    <a:lstStyle/>
                    <a:p>
                      <a:pPr>
                        <a:defRPr sz="1100">
                          <a:solidFill>
                            <a:srgbClr val="1A202C"/>
                          </a:solidFill>
                          <a:latin typeface="Calibri"/>
                        </a:defRPr>
                      </a:pPr>
                      <a:r>
                        <a:t>⚪ INFO</a:t>
                      </a:r>
                    </a:p>
                  </a:txBody>
                  <a:tcPr>
                    <a:solidFill>
                      <a:srgbClr val="F8F9FA"/>
                    </a:solidFill>
                  </a:tcPr>
                </a:tc>
              </a:tr>
              <a:tr h="396000">
                <a:tc>
                  <a:txBody>
                    <a:bodyPr/>
                    <a:lstStyle/>
                    <a:p>
                      <a:pPr>
                        <a:defRPr sz="1100">
                          <a:solidFill>
                            <a:srgbClr val="1A202C"/>
                          </a:solidFill>
                          <a:latin typeface="Calibri"/>
                        </a:defRPr>
                      </a:pPr>
                      <a:r>
                        <a:t>7</a:t>
                      </a:r>
                    </a:p>
                  </a:txBody>
                  <a:tcPr>
                    <a:solidFill>
                      <a:srgbClr val="FFFFFF"/>
                    </a:solidFill>
                  </a:tcPr>
                </a:tc>
                <a:tc>
                  <a:txBody>
                    <a:bodyPr/>
                    <a:lstStyle/>
                    <a:p>
                      <a:pPr>
                        <a:defRPr sz="1100">
                          <a:solidFill>
                            <a:srgbClr val="1A202C"/>
                          </a:solidFill>
                          <a:latin typeface="Calibri"/>
                        </a:defRPr>
                      </a:pPr>
                      <a:r>
                        <a:t>API Abuse</a:t>
                      </a:r>
                    </a:p>
                  </a:txBody>
                  <a:tcPr>
                    <a:solidFill>
                      <a:srgbClr val="FFFFFF"/>
                    </a:solidFill>
                  </a:tcPr>
                </a:tc>
                <a:tc>
                  <a:txBody>
                    <a:bodyPr/>
                    <a:lstStyle/>
                    <a:p>
                      <a:pPr>
                        <a:defRPr sz="1100">
                          <a:solidFill>
                            <a:srgbClr val="1A202C"/>
                          </a:solidFill>
                          <a:latin typeface="Calibri"/>
                        </a:defRPr>
                      </a:pPr>
                      <a:r>
                        <a:t>🟡 MOYENNE</a:t>
                      </a:r>
                    </a:p>
                  </a:txBody>
                  <a:tcPr>
                    <a:solidFill>
                      <a:srgbClr val="FFFFFF"/>
                    </a:solidFill>
                  </a:tcPr>
                </a:tc>
              </a:tr>
              <a:tr h="396000">
                <a:tc>
                  <a:txBody>
                    <a:bodyPr/>
                    <a:lstStyle/>
                    <a:p>
                      <a:pPr>
                        <a:defRPr sz="1100">
                          <a:solidFill>
                            <a:srgbClr val="1A202C"/>
                          </a:solidFill>
                          <a:latin typeface="Calibri"/>
                        </a:defRPr>
                      </a:pPr>
                      <a:r>
                        <a:t>8</a:t>
                      </a:r>
                    </a:p>
                  </a:txBody>
                  <a:tcPr>
                    <a:solidFill>
                      <a:srgbClr val="F8F9FA"/>
                    </a:solidFill>
                  </a:tcPr>
                </a:tc>
                <a:tc>
                  <a:txBody>
                    <a:bodyPr/>
                    <a:lstStyle/>
                    <a:p>
                      <a:pPr>
                        <a:defRPr sz="1100">
                          <a:solidFill>
                            <a:srgbClr val="1A202C"/>
                          </a:solidFill>
                          <a:latin typeface="Calibri"/>
                        </a:defRPr>
                      </a:pPr>
                      <a:r>
                        <a:t>Denial of Service (DoS)</a:t>
                      </a:r>
                    </a:p>
                  </a:txBody>
                  <a:tcPr>
                    <a:solidFill>
                      <a:srgbClr val="F8F9FA"/>
                    </a:solidFill>
                  </a:tcPr>
                </a:tc>
                <a:tc>
                  <a:txBody>
                    <a:bodyPr/>
                    <a:lstStyle/>
                    <a:p>
                      <a:pPr>
                        <a:defRPr sz="1100">
                          <a:solidFill>
                            <a:srgbClr val="1A202C"/>
                          </a:solidFill>
                          <a:latin typeface="Calibri"/>
                        </a:defRPr>
                      </a:pPr>
                      <a:r>
                        <a:t>🟡 MOYENNE</a:t>
                      </a:r>
                    </a:p>
                  </a:txBody>
                  <a:tcPr>
                    <a:solidFill>
                      <a:srgbClr val="F8F9FA"/>
                    </a:solidFill>
                  </a:tcPr>
                </a:tc>
              </a:tr>
              <a:tr h="396000">
                <a:tc>
                  <a:txBody>
                    <a:bodyPr/>
                    <a:lstStyle/>
                    <a:p>
                      <a:pPr>
                        <a:defRPr sz="1100">
                          <a:solidFill>
                            <a:srgbClr val="1A202C"/>
                          </a:solidFill>
                          <a:latin typeface="Calibri"/>
                        </a:defRPr>
                      </a:pPr>
                      <a:r>
                        <a:t>9</a:t>
                      </a:r>
                    </a:p>
                  </a:txBody>
                  <a:tcPr>
                    <a:solidFill>
                      <a:srgbClr val="FFFFFF"/>
                    </a:solidFill>
                  </a:tcPr>
                </a:tc>
                <a:tc>
                  <a:txBody>
                    <a:bodyPr/>
                    <a:lstStyle/>
                    <a:p>
                      <a:pPr>
                        <a:defRPr sz="1100">
                          <a:solidFill>
                            <a:srgbClr val="1A202C"/>
                          </a:solidFill>
                          <a:latin typeface="Calibri"/>
                        </a:defRPr>
                      </a:pPr>
                      <a:r>
                        <a:t>Credential Stuffing</a:t>
                      </a:r>
                    </a:p>
                  </a:txBody>
                  <a:tcPr>
                    <a:solidFill>
                      <a:srgbClr val="FFFFFF"/>
                    </a:solidFill>
                  </a:tcPr>
                </a:tc>
                <a:tc>
                  <a:txBody>
                    <a:bodyPr/>
                    <a:lstStyle/>
                    <a:p>
                      <a:pPr>
                        <a:defRPr sz="1100">
                          <a:solidFill>
                            <a:srgbClr val="1A202C"/>
                          </a:solidFill>
                          <a:latin typeface="Calibri"/>
                        </a:defRPr>
                      </a:pPr>
                      <a:r>
                        <a:t>🔴 HAUTE</a:t>
                      </a:r>
                    </a:p>
                  </a:txBody>
                  <a:tcPr>
                    <a:solidFill>
                      <a:srgbClr val="FFFFFF"/>
                    </a:solidFill>
                  </a:tcPr>
                </a:tc>
              </a:tr>
              <a:tr h="396000">
                <a:tc>
                  <a:txBody>
                    <a:bodyPr/>
                    <a:lstStyle/>
                    <a:p>
                      <a:pPr>
                        <a:defRPr sz="1100">
                          <a:solidFill>
                            <a:srgbClr val="1A202C"/>
                          </a:solidFill>
                          <a:latin typeface="Calibri"/>
                        </a:defRPr>
                      </a:pPr>
                      <a:r>
                        <a:t>10</a:t>
                      </a:r>
                    </a:p>
                  </a:txBody>
                  <a:tcPr>
                    <a:solidFill>
                      <a:srgbClr val="F8F9FA"/>
                    </a:solidFill>
                  </a:tcPr>
                </a:tc>
                <a:tc>
                  <a:txBody>
                    <a:bodyPr/>
                    <a:lstStyle/>
                    <a:p>
                      <a:pPr>
                        <a:defRPr sz="1100">
                          <a:solidFill>
                            <a:srgbClr val="1A202C"/>
                          </a:solidFill>
                          <a:latin typeface="Calibri"/>
                        </a:defRPr>
                      </a:pPr>
                      <a:r>
                        <a:t>Security Misconfiguration</a:t>
                      </a:r>
                    </a:p>
                  </a:txBody>
                  <a:tcPr>
                    <a:solidFill>
                      <a:srgbClr val="F8F9FA"/>
                    </a:solidFill>
                  </a:tcPr>
                </a:tc>
                <a:tc>
                  <a:txBody>
                    <a:bodyPr/>
                    <a:lstStyle/>
                    <a:p>
                      <a:pPr>
                        <a:defRPr sz="1100">
                          <a:solidFill>
                            <a:srgbClr val="1A202C"/>
                          </a:solidFill>
                          <a:latin typeface="Calibri"/>
                        </a:defRPr>
                      </a:pPr>
                      <a:r>
                        <a:t>🔴 CRITIQUE</a:t>
                      </a:r>
                    </a:p>
                  </a:txBody>
                  <a:tcPr>
                    <a:solidFill>
                      <a:srgbClr val="F8F9FA"/>
                    </a:solidFill>
                  </a:tcPr>
                </a:tc>
              </a:tr>
              <a:tr h="396000">
                <a:tc>
                  <a:txBody>
                    <a:bodyPr/>
                    <a:lstStyle/>
                    <a:p>
                      <a:pPr>
                        <a:defRPr sz="1100">
                          <a:solidFill>
                            <a:srgbClr val="1A202C"/>
                          </a:solidFill>
                          <a:latin typeface="Calibri"/>
                        </a:defRPr>
                      </a:pPr>
                      <a:r>
                        <a:t>11</a:t>
                      </a:r>
                    </a:p>
                  </a:txBody>
                  <a:tcPr>
                    <a:solidFill>
                      <a:srgbClr val="FFFFFF"/>
                    </a:solidFill>
                  </a:tcPr>
                </a:tc>
                <a:tc>
                  <a:txBody>
                    <a:bodyPr/>
                    <a:lstStyle/>
                    <a:p>
                      <a:pPr>
                        <a:defRPr sz="1100">
                          <a:solidFill>
                            <a:srgbClr val="1A202C"/>
                          </a:solidFill>
                          <a:latin typeface="Calibri"/>
                        </a:defRPr>
                      </a:pPr>
                      <a:r>
                        <a:t>Sensitive Data Exposure</a:t>
                      </a:r>
                    </a:p>
                  </a:txBody>
                  <a:tcPr>
                    <a:solidFill>
                      <a:srgbClr val="FFFFFF"/>
                    </a:solidFill>
                  </a:tcPr>
                </a:tc>
                <a:tc>
                  <a:txBody>
                    <a:bodyPr/>
                    <a:lstStyle/>
                    <a:p>
                      <a:pPr>
                        <a:defRPr sz="1100">
                          <a:solidFill>
                            <a:srgbClr val="1A202C"/>
                          </a:solidFill>
                          <a:latin typeface="Calibri"/>
                        </a:defRPr>
                      </a:pPr>
                      <a:r>
                        <a:t>⚪ INFO</a:t>
                      </a:r>
                    </a:p>
                  </a:txBody>
                  <a:tcPr>
                    <a:solidFill>
                      <a:srgbClr val="FFFFFF"/>
                    </a:solidFill>
                  </a:tcPr>
                </a:tc>
              </a:tr>
              <a:tr h="396000">
                <a:tc>
                  <a:txBody>
                    <a:bodyPr/>
                    <a:lstStyle/>
                    <a:p>
                      <a:pPr>
                        <a:defRPr sz="1100">
                          <a:solidFill>
                            <a:srgbClr val="1A202C"/>
                          </a:solidFill>
                          <a:latin typeface="Calibri"/>
                        </a:defRPr>
                      </a:pPr>
                      <a:r>
                        <a:t>12</a:t>
                      </a:r>
                    </a:p>
                  </a:txBody>
                  <a:tcPr>
                    <a:solidFill>
                      <a:srgbClr val="F8F9FA"/>
                    </a:solidFill>
                  </a:tcPr>
                </a:tc>
                <a:tc>
                  <a:txBody>
                    <a:bodyPr/>
                    <a:lstStyle/>
                    <a:p>
                      <a:pPr>
                        <a:defRPr sz="1100">
                          <a:solidFill>
                            <a:srgbClr val="1A202C"/>
                          </a:solidFill>
                          <a:latin typeface="Calibri"/>
                        </a:defRPr>
                      </a:pPr>
                      <a:r>
                        <a:t>Sender Spoofing</a:t>
                      </a:r>
                    </a:p>
                  </a:txBody>
                  <a:tcPr>
                    <a:solidFill>
                      <a:srgbClr val="F8F9FA"/>
                    </a:solidFill>
                  </a:tcPr>
                </a:tc>
                <a:tc>
                  <a:txBody>
                    <a:bodyPr/>
                    <a:lstStyle/>
                    <a:p>
                      <a:pPr>
                        <a:defRPr sz="1100">
                          <a:solidFill>
                            <a:srgbClr val="1A202C"/>
                          </a:solidFill>
                          <a:latin typeface="Calibri"/>
                        </a:defRPr>
                      </a:pPr>
                      <a:r>
                        <a:t>N/A</a:t>
                      </a:r>
                    </a:p>
                  </a:txBody>
                  <a:tcPr>
                    <a:solidFill>
                      <a:srgbClr val="F8F9FA"/>
                    </a:solidFill>
                  </a:tcPr>
                </a:tc>
              </a:tr>
            </a:tbl>
          </a:graphicData>
        </a:graphic>
      </p:graphicFrame>
      <p:sp>
        <p:nvSpPr>
          <p:cNvPr id="8" name="TextBox 7"/>
          <p:cNvSpPr txBox="1"/>
          <p:nvPr/>
        </p:nvSpPr>
        <p:spPr>
          <a:xfrm>
            <a:off x="720000" y="5940000"/>
            <a:ext cx="10800000" cy="360000"/>
          </a:xfrm>
          <a:prstGeom prst="rect">
            <a:avLst/>
          </a:prstGeom>
          <a:noFill/>
        </p:spPr>
        <p:txBody>
          <a:bodyPr wrap="square">
            <a:spAutoFit/>
          </a:bodyPr>
          <a:lstStyle/>
          <a:p>
            <a:pPr>
              <a:defRPr sz="1300" b="0" i="1">
                <a:solidFill>
                  <a:srgbClr val="7F8C8D"/>
                </a:solidFill>
                <a:latin typeface="Calibri"/>
              </a:defRPr>
            </a:pPr>
            <a:r>
              <a:t>12 scénarios = couverture OWASP Top 10 + attaques spécifiques — chaque scénario a un rapport détaillé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6. Plan de remédiation priorisé</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13</a:t>
            </a:r>
          </a:p>
        </p:txBody>
      </p:sp>
      <p:graphicFrame>
        <p:nvGraphicFramePr>
          <p:cNvPr id="7" name="Table 6"/>
          <p:cNvGraphicFramePr>
            <a:graphicFrameLocks noGrp="1"/>
          </p:cNvGraphicFramePr>
          <p:nvPr/>
        </p:nvGraphicFramePr>
        <p:xfrm>
          <a:off x="720000" y="1260000"/>
          <a:ext cx="7920000" cy="1980000"/>
        </p:xfrm>
        <a:graphic>
          <a:graphicData uri="http://schemas.openxmlformats.org/drawingml/2006/table">
            <a:tbl>
              <a:tblPr firstRow="1" bandRow="1">
                <a:tableStyleId>{5C22544A-7EE6-4342-B048-85BDC9FD1C3A}</a:tableStyleId>
              </a:tblPr>
              <a:tblGrid>
                <a:gridCol w="1260000"/>
                <a:gridCol w="1260000"/>
                <a:gridCol w="900000"/>
                <a:gridCol w="900000"/>
                <a:gridCol w="3600000"/>
              </a:tblGrid>
              <a:tr h="396000">
                <a:tc>
                  <a:txBody>
                    <a:bodyPr/>
                    <a:lstStyle/>
                    <a:p>
                      <a:pPr algn="ctr">
                        <a:defRPr sz="1300" b="1">
                          <a:solidFill>
                            <a:srgbClr val="FFFFFF"/>
                          </a:solidFill>
                          <a:latin typeface="Calibri"/>
                        </a:defRPr>
                      </a:pPr>
                      <a:r>
                        <a:t>Priorité</a:t>
                      </a:r>
                    </a:p>
                  </a:txBody>
                  <a:tcPr>
                    <a:solidFill>
                      <a:srgbClr val="1A365D"/>
                    </a:solidFill>
                  </a:tcPr>
                </a:tc>
                <a:tc>
                  <a:txBody>
                    <a:bodyPr/>
                    <a:lstStyle/>
                    <a:p>
                      <a:pPr algn="ctr">
                        <a:defRPr sz="1300" b="1">
                          <a:solidFill>
                            <a:srgbClr val="FFFFFF"/>
                          </a:solidFill>
                          <a:latin typeface="Calibri"/>
                        </a:defRPr>
                      </a:pPr>
                      <a:r>
                        <a:t>Délai</a:t>
                      </a:r>
                    </a:p>
                  </a:txBody>
                  <a:tcPr>
                    <a:solidFill>
                      <a:srgbClr val="1A365D"/>
                    </a:solidFill>
                  </a:tcPr>
                </a:tc>
                <a:tc>
                  <a:txBody>
                    <a:bodyPr/>
                    <a:lstStyle/>
                    <a:p>
                      <a:pPr algn="ctr">
                        <a:defRPr sz="1300" b="1">
                          <a:solidFill>
                            <a:srgbClr val="FFFFFF"/>
                          </a:solidFill>
                          <a:latin typeface="Calibri"/>
                        </a:defRPr>
                      </a:pPr>
                      <a:r>
                        <a:t>Nb vuln.</a:t>
                      </a:r>
                    </a:p>
                  </a:txBody>
                  <a:tcPr>
                    <a:solidFill>
                      <a:srgbClr val="1A365D"/>
                    </a:solidFill>
                  </a:tcPr>
                </a:tc>
                <a:tc>
                  <a:txBody>
                    <a:bodyPr/>
                    <a:lstStyle/>
                    <a:p>
                      <a:pPr algn="ctr">
                        <a:defRPr sz="1300" b="1">
                          <a:solidFill>
                            <a:srgbClr val="FFFFFF"/>
                          </a:solidFill>
                          <a:latin typeface="Calibri"/>
                        </a:defRPr>
                      </a:pPr>
                      <a:r>
                        <a:t>Temps</a:t>
                      </a:r>
                    </a:p>
                  </a:txBody>
                  <a:tcPr>
                    <a:solidFill>
                      <a:srgbClr val="1A365D"/>
                    </a:solidFill>
                  </a:tcPr>
                </a:tc>
                <a:tc>
                  <a:txBody>
                    <a:bodyPr/>
                    <a:lstStyle/>
                    <a:p>
                      <a:pPr algn="ctr">
                        <a:defRPr sz="1300" b="1">
                          <a:solidFill>
                            <a:srgbClr val="FFFFFF"/>
                          </a:solidFill>
                          <a:latin typeface="Calibri"/>
                        </a:defRPr>
                      </a:pPr>
                      <a:r>
                        <a:t>Impact</a:t>
                      </a:r>
                    </a:p>
                  </a:txBody>
                  <a:tcPr>
                    <a:solidFill>
                      <a:srgbClr val="1A365D"/>
                    </a:solidFill>
                  </a:tcPr>
                </a:tc>
              </a:tr>
              <a:tr h="396000">
                <a:tc>
                  <a:txBody>
                    <a:bodyPr/>
                    <a:lstStyle/>
                    <a:p>
                      <a:pPr>
                        <a:defRPr sz="1100">
                          <a:solidFill>
                            <a:srgbClr val="1A202C"/>
                          </a:solidFill>
                          <a:latin typeface="Calibri"/>
                        </a:defRPr>
                      </a:pPr>
                      <a:r>
                        <a:t>P0 — Immédiat</a:t>
                      </a:r>
                    </a:p>
                  </a:txBody>
                  <a:tcPr>
                    <a:solidFill>
                      <a:srgbClr val="FFFFFF"/>
                    </a:solidFill>
                  </a:tcPr>
                </a:tc>
                <a:tc>
                  <a:txBody>
                    <a:bodyPr/>
                    <a:lstStyle/>
                    <a:p>
                      <a:pPr>
                        <a:defRPr sz="1100">
                          <a:solidFill>
                            <a:srgbClr val="1A202C"/>
                          </a:solidFill>
                          <a:latin typeface="Calibri"/>
                        </a:defRPr>
                      </a:pPr>
                      <a:r>
                        <a:t>Maintenant</a:t>
                      </a:r>
                    </a:p>
                  </a:txBody>
                  <a:tcPr>
                    <a:solidFill>
                      <a:srgbClr val="FFFFFF"/>
                    </a:solidFill>
                  </a:tcPr>
                </a:tc>
                <a:tc>
                  <a:txBody>
                    <a:bodyPr/>
                    <a:lstStyle/>
                    <a:p>
                      <a:pPr>
                        <a:defRPr sz="1100">
                          <a:solidFill>
                            <a:srgbClr val="1A202C"/>
                          </a:solidFill>
                          <a:latin typeface="Calibri"/>
                        </a:defRPr>
                      </a:pPr>
                      <a:r>
                        <a:t>1</a:t>
                      </a:r>
                    </a:p>
                  </a:txBody>
                  <a:tcPr>
                    <a:solidFill>
                      <a:srgbClr val="FFFFFF"/>
                    </a:solidFill>
                  </a:tcPr>
                </a:tc>
                <a:tc>
                  <a:txBody>
                    <a:bodyPr/>
                    <a:lstStyle/>
                    <a:p>
                      <a:pPr>
                        <a:defRPr sz="1100">
                          <a:solidFill>
                            <a:srgbClr val="1A202C"/>
                          </a:solidFill>
                          <a:latin typeface="Calibri"/>
                        </a:defRPr>
                      </a:pPr>
                      <a:r>
                        <a:t>5 min</a:t>
                      </a:r>
                    </a:p>
                  </a:txBody>
                  <a:tcPr>
                    <a:solidFill>
                      <a:srgbClr val="FFFFFF"/>
                    </a:solidFill>
                  </a:tcPr>
                </a:tc>
                <a:tc>
                  <a:txBody>
                    <a:bodyPr/>
                    <a:lstStyle/>
                    <a:p>
                      <a:pPr>
                        <a:defRPr sz="1100">
                          <a:solidFill>
                            <a:srgbClr val="1A202C"/>
                          </a:solidFill>
                          <a:latin typeface="Calibri"/>
                        </a:defRPr>
                      </a:pPr>
                      <a:r>
                        <a:t>Supprime la vulnérabilité critique</a:t>
                      </a:r>
                    </a:p>
                  </a:txBody>
                  <a:tcPr>
                    <a:solidFill>
                      <a:srgbClr val="FFFFFF"/>
                    </a:solidFill>
                  </a:tcPr>
                </a:tc>
              </a:tr>
              <a:tr h="396000">
                <a:tc>
                  <a:txBody>
                    <a:bodyPr/>
                    <a:lstStyle/>
                    <a:p>
                      <a:pPr>
                        <a:defRPr sz="1100">
                          <a:solidFill>
                            <a:srgbClr val="1A202C"/>
                          </a:solidFill>
                          <a:latin typeface="Calibri"/>
                        </a:defRPr>
                      </a:pPr>
                      <a:r>
                        <a:t>P1 — Ce sprint</a:t>
                      </a:r>
                    </a:p>
                  </a:txBody>
                  <a:tcPr>
                    <a:solidFill>
                      <a:srgbClr val="F8F9FA"/>
                    </a:solidFill>
                  </a:tcPr>
                </a:tc>
                <a:tc>
                  <a:txBody>
                    <a:bodyPr/>
                    <a:lstStyle/>
                    <a:p>
                      <a:pPr>
                        <a:defRPr sz="1100">
                          <a:solidFill>
                            <a:srgbClr val="1A202C"/>
                          </a:solidFill>
                          <a:latin typeface="Calibri"/>
                        </a:defRPr>
                      </a:pPr>
                      <a:r>
                        <a:t>1-2 semaines</a:t>
                      </a:r>
                    </a:p>
                  </a:txBody>
                  <a:tcPr>
                    <a:solidFill>
                      <a:srgbClr val="F8F9FA"/>
                    </a:solidFill>
                  </a:tcPr>
                </a:tc>
                <a:tc>
                  <a:txBody>
                    <a:bodyPr/>
                    <a:lstStyle/>
                    <a:p>
                      <a:pPr>
                        <a:defRPr sz="1100">
                          <a:solidFill>
                            <a:srgbClr val="1A202C"/>
                          </a:solidFill>
                          <a:latin typeface="Calibri"/>
                        </a:defRPr>
                      </a:pPr>
                      <a:r>
                        <a:t>3</a:t>
                      </a:r>
                    </a:p>
                  </a:txBody>
                  <a:tcPr>
                    <a:solidFill>
                      <a:srgbClr val="F8F9FA"/>
                    </a:solidFill>
                  </a:tcPr>
                </a:tc>
                <a:tc>
                  <a:txBody>
                    <a:bodyPr/>
                    <a:lstStyle/>
                    <a:p>
                      <a:pPr>
                        <a:defRPr sz="1100">
                          <a:solidFill>
                            <a:srgbClr val="1A202C"/>
                          </a:solidFill>
                          <a:latin typeface="Calibri"/>
                        </a:defRPr>
                      </a:pPr>
                      <a:r>
                        <a:t>6 h</a:t>
                      </a:r>
                    </a:p>
                  </a:txBody>
                  <a:tcPr>
                    <a:solidFill>
                      <a:srgbClr val="F8F9FA"/>
                    </a:solidFill>
                  </a:tcPr>
                </a:tc>
                <a:tc>
                  <a:txBody>
                    <a:bodyPr/>
                    <a:lstStyle/>
                    <a:p>
                      <a:pPr>
                        <a:defRPr sz="1100">
                          <a:solidFill>
                            <a:srgbClr val="1A202C"/>
                          </a:solidFill>
                          <a:latin typeface="Calibri"/>
                        </a:defRPr>
                      </a:pPr>
                      <a:r>
                        <a:t>Corrige 5 vulnérabilités HAUTES</a:t>
                      </a:r>
                    </a:p>
                  </a:txBody>
                  <a:tcPr>
                    <a:solidFill>
                      <a:srgbClr val="F8F9FA"/>
                    </a:solidFill>
                  </a:tcPr>
                </a:tc>
              </a:tr>
              <a:tr h="396000">
                <a:tc>
                  <a:txBody>
                    <a:bodyPr/>
                    <a:lstStyle/>
                    <a:p>
                      <a:pPr>
                        <a:defRPr sz="1100">
                          <a:solidFill>
                            <a:srgbClr val="1A202C"/>
                          </a:solidFill>
                          <a:latin typeface="Calibri"/>
                        </a:defRPr>
                      </a:pPr>
                      <a:r>
                        <a:t>P2 — Prochain sprint</a:t>
                      </a:r>
                    </a:p>
                  </a:txBody>
                  <a:tcPr>
                    <a:solidFill>
                      <a:srgbClr val="FFFFFF"/>
                    </a:solidFill>
                  </a:tcPr>
                </a:tc>
                <a:tc>
                  <a:txBody>
                    <a:bodyPr/>
                    <a:lstStyle/>
                    <a:p>
                      <a:pPr>
                        <a:defRPr sz="1100">
                          <a:solidFill>
                            <a:srgbClr val="1A202C"/>
                          </a:solidFill>
                          <a:latin typeface="Calibri"/>
                        </a:defRPr>
                      </a:pPr>
                      <a:r>
                        <a:t>2-4 semaines</a:t>
                      </a:r>
                    </a:p>
                  </a:txBody>
                  <a:tcPr>
                    <a:solidFill>
                      <a:srgbClr val="FFFFFF"/>
                    </a:solidFill>
                  </a:tcPr>
                </a:tc>
                <a:tc>
                  <a:txBody>
                    <a:bodyPr/>
                    <a:lstStyle/>
                    <a:p>
                      <a:pPr>
                        <a:defRPr sz="1100">
                          <a:solidFill>
                            <a:srgbClr val="1A202C"/>
                          </a:solidFill>
                          <a:latin typeface="Calibri"/>
                        </a:defRPr>
                      </a:pPr>
                      <a:r>
                        <a:t>5</a:t>
                      </a:r>
                    </a:p>
                  </a:txBody>
                  <a:tcPr>
                    <a:solidFill>
                      <a:srgbClr val="FFFFFF"/>
                    </a:solidFill>
                  </a:tcPr>
                </a:tc>
                <a:tc>
                  <a:txBody>
                    <a:bodyPr/>
                    <a:lstStyle/>
                    <a:p>
                      <a:pPr>
                        <a:defRPr sz="1100">
                          <a:solidFill>
                            <a:srgbClr val="1A202C"/>
                          </a:solidFill>
                          <a:latin typeface="Calibri"/>
                        </a:defRPr>
                      </a:pPr>
                      <a:r>
                        <a:t>3 h</a:t>
                      </a:r>
                    </a:p>
                  </a:txBody>
                  <a:tcPr>
                    <a:solidFill>
                      <a:srgbClr val="FFFFFF"/>
                    </a:solidFill>
                  </a:tcPr>
                </a:tc>
                <a:tc>
                  <a:txBody>
                    <a:bodyPr/>
                    <a:lstStyle/>
                    <a:p>
                      <a:pPr>
                        <a:defRPr sz="1100">
                          <a:solidFill>
                            <a:srgbClr val="1A202C"/>
                          </a:solidFill>
                          <a:latin typeface="Calibri"/>
                        </a:defRPr>
                      </a:pPr>
                      <a:r>
                        <a:t>Corrige 5 vulnérabilités MOYENNES</a:t>
                      </a:r>
                    </a:p>
                  </a:txBody>
                  <a:tcPr>
                    <a:solidFill>
                      <a:srgbClr val="FFFFFF"/>
                    </a:solidFill>
                  </a:tcPr>
                </a:tc>
              </a:tr>
              <a:tr h="396000">
                <a:tc>
                  <a:txBody>
                    <a:bodyPr/>
                    <a:lstStyle/>
                    <a:p>
                      <a:pPr>
                        <a:defRPr sz="1100">
                          <a:solidFill>
                            <a:srgbClr val="1A202C"/>
                          </a:solidFill>
                          <a:latin typeface="Calibri"/>
                        </a:defRPr>
                      </a:pPr>
                      <a:r>
                        <a:t>P3 — Backlog</a:t>
                      </a:r>
                    </a:p>
                  </a:txBody>
                  <a:tcPr>
                    <a:solidFill>
                      <a:srgbClr val="F8F9FA"/>
                    </a:solidFill>
                  </a:tcPr>
                </a:tc>
                <a:tc>
                  <a:txBody>
                    <a:bodyPr/>
                    <a:lstStyle/>
                    <a:p>
                      <a:pPr>
                        <a:defRPr sz="1100">
                          <a:solidFill>
                            <a:srgbClr val="1A202C"/>
                          </a:solidFill>
                          <a:latin typeface="Calibri"/>
                        </a:defRPr>
                      </a:pPr>
                      <a:r>
                        <a:t>Quand possible</a:t>
                      </a:r>
                    </a:p>
                  </a:txBody>
                  <a:tcPr>
                    <a:solidFill>
                      <a:srgbClr val="F8F9FA"/>
                    </a:solidFill>
                  </a:tcPr>
                </a:tc>
                <a:tc>
                  <a:txBody>
                    <a:bodyPr/>
                    <a:lstStyle/>
                    <a:p>
                      <a:pPr>
                        <a:defRPr sz="1100">
                          <a:solidFill>
                            <a:srgbClr val="1A202C"/>
                          </a:solidFill>
                          <a:latin typeface="Calibri"/>
                        </a:defRPr>
                      </a:pPr>
                      <a:r>
                        <a:t>5</a:t>
                      </a:r>
                    </a:p>
                  </a:txBody>
                  <a:tcPr>
                    <a:solidFill>
                      <a:srgbClr val="F8F9FA"/>
                    </a:solidFill>
                  </a:tcPr>
                </a:tc>
                <a:tc>
                  <a:txBody>
                    <a:bodyPr/>
                    <a:lstStyle/>
                    <a:p>
                      <a:pPr>
                        <a:defRPr sz="1100">
                          <a:solidFill>
                            <a:srgbClr val="1A202C"/>
                          </a:solidFill>
                          <a:latin typeface="Calibri"/>
                        </a:defRPr>
                      </a:pPr>
                      <a:r>
                        <a:t>4 h</a:t>
                      </a:r>
                    </a:p>
                  </a:txBody>
                  <a:tcPr>
                    <a:solidFill>
                      <a:srgbClr val="F8F9FA"/>
                    </a:solidFill>
                  </a:tcPr>
                </a:tc>
                <a:tc>
                  <a:txBody>
                    <a:bodyPr/>
                    <a:lstStyle/>
                    <a:p>
                      <a:pPr>
                        <a:defRPr sz="1100">
                          <a:solidFill>
                            <a:srgbClr val="1A202C"/>
                          </a:solidFill>
                          <a:latin typeface="Calibri"/>
                        </a:defRPr>
                      </a:pPr>
                      <a:r>
                        <a:t>Améliore la posture de sécurité</a:t>
                      </a:r>
                    </a:p>
                  </a:txBody>
                  <a:tcPr>
                    <a:solidFill>
                      <a:srgbClr val="F8F9FA"/>
                    </a:solidFill>
                  </a:tcPr>
                </a:tc>
              </a:tr>
            </a:tbl>
          </a:graphicData>
        </a:graphic>
      </p:graphicFrame>
      <p:sp>
        <p:nvSpPr>
          <p:cNvPr id="8" name="Rectangle 7"/>
          <p:cNvSpPr/>
          <p:nvPr/>
        </p:nvSpPr>
        <p:spPr>
          <a:xfrm>
            <a:off x="720000" y="3600000"/>
            <a:ext cx="10800000" cy="1800000"/>
          </a:xfrm>
          <a:prstGeom prst="rect">
            <a:avLst/>
          </a:prstGeom>
          <a:solidFill>
            <a:srgbClr val="D4EDDA"/>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0000" y="3780000"/>
            <a:ext cx="10080000" cy="540000"/>
          </a:xfrm>
          <a:prstGeom prst="rect">
            <a:avLst/>
          </a:prstGeom>
          <a:noFill/>
        </p:spPr>
        <p:txBody>
          <a:bodyPr wrap="square">
            <a:spAutoFit/>
          </a:bodyPr>
          <a:lstStyle/>
          <a:p>
            <a:pPr>
              <a:defRPr sz="2200" b="1" i="0">
                <a:solidFill>
                  <a:srgbClr val="155724"/>
                </a:solidFill>
                <a:latin typeface="Calibri"/>
              </a:defRPr>
            </a:pPr>
            <a:r>
              <a:t>Total : ~13 heures de travail — Score de sécurité : 55 → 90 / 100</a:t>
            </a:r>
          </a:p>
        </p:txBody>
      </p:sp>
      <p:sp>
        <p:nvSpPr>
          <p:cNvPr id="10" name="TextBox 9"/>
          <p:cNvSpPr txBox="1"/>
          <p:nvPr/>
        </p:nvSpPr>
        <p:spPr>
          <a:xfrm>
            <a:off x="1080000" y="4500000"/>
            <a:ext cx="10080000" cy="720000"/>
          </a:xfrm>
          <a:prstGeom prst="rect">
            <a:avLst/>
          </a:prstGeom>
          <a:noFill/>
        </p:spPr>
        <p:txBody>
          <a:bodyPr wrap="square">
            <a:spAutoFit/>
          </a:bodyPr>
          <a:lstStyle/>
          <a:p>
            <a:pPr>
              <a:defRPr sz="1400" b="0" i="0">
                <a:solidFill>
                  <a:srgbClr val="155724"/>
                </a:solidFill>
                <a:latin typeface="Calibri"/>
              </a:defRPr>
            </a:pPr>
            <a:r>
              <a:t>L'intégralité des corrections est documentée avec le code AVANT/APRÈS, le temps estimé,</a:t>
            </a:r>
            <a:br/>
            <a:r>
              <a:t>et la procédure de vérification dans le plan de remédiation détaillé.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5.4 Bonnes pratiques identifiées</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14</a:t>
            </a:r>
          </a:p>
        </p:txBody>
      </p:sp>
      <p:sp>
        <p:nvSpPr>
          <p:cNvPr id="7" name="TextBox 6"/>
          <p:cNvSpPr txBox="1"/>
          <p:nvPr/>
        </p:nvSpPr>
        <p:spPr>
          <a:xfrm>
            <a:off x="1080000" y="1260000"/>
            <a:ext cx="10080000" cy="4680000"/>
          </a:xfrm>
          <a:prstGeom prst="rect">
            <a:avLst/>
          </a:prstGeom>
          <a:noFill/>
        </p:spPr>
        <p:txBody>
          <a:bodyPr wrap="square">
            <a:spAutoFit/>
          </a:bodyPr>
          <a:lstStyle/>
          <a:p>
            <a:pPr>
              <a:spcAft>
                <a:spcPts val="1400"/>
              </a:spcAft>
              <a:defRPr sz="1600">
                <a:solidFill>
                  <a:srgbClr val="1A202C"/>
                </a:solidFill>
                <a:latin typeface="Calibri"/>
              </a:defRPr>
            </a:pPr>
            <a:r>
              <a:t>• ✅ Hachage des mots de passe : bcrypt (Flask-Bcrypt, 13 rounds en production)</a:t>
            </a:r>
          </a:p>
          <a:p>
            <a:pPr>
              <a:spcAft>
                <a:spcPts val="1400"/>
              </a:spcAft>
              <a:defRPr sz="1600">
                <a:solidFill>
                  <a:srgbClr val="1A202C"/>
                </a:solidFill>
                <a:latin typeface="Calibri"/>
              </a:defRPr>
            </a:pPr>
            <a:r>
              <a:t>• ✅ ORM SQLAlchemy : toutes les requêtes utilisent des méthodes paramétrées — protection anti-SQLi</a:t>
            </a:r>
          </a:p>
          <a:p>
            <a:pPr>
              <a:spcAft>
                <a:spcPts val="1400"/>
              </a:spcAft>
              <a:defRPr sz="1600">
                <a:solidFill>
                  <a:srgbClr val="1A202C"/>
                </a:solidFill>
                <a:latin typeface="Calibri"/>
              </a:defRPr>
            </a:pPr>
            <a:r>
              <a:t>• ✅ Propriété des ressources : les modifications vérifient author_id == current_user</a:t>
            </a:r>
          </a:p>
          <a:p>
            <a:pPr>
              <a:spcAft>
                <a:spcPts val="1400"/>
              </a:spcAft>
              <a:defRPr sz="1600">
                <a:solidFill>
                  <a:srgbClr val="1A202C"/>
                </a:solidFill>
                <a:latin typeface="Calibri"/>
              </a:defRPr>
            </a:pPr>
            <a:r>
              <a:t>• ✅ Mots de passe masqués : load_only=True dans le schéma Marshmallow</a:t>
            </a:r>
          </a:p>
          <a:p>
            <a:pPr>
              <a:spcAft>
                <a:spcPts val="1400"/>
              </a:spcAft>
              <a:defRPr sz="1600">
                <a:solidFill>
                  <a:srgbClr val="1A202C"/>
                </a:solidFill>
                <a:latin typeface="Calibri"/>
              </a:defRPr>
            </a:pPr>
            <a:r>
              <a:t>• ✅ Authentification JWT : décorateurs @jwt_required sur tous les endpoints protégés</a:t>
            </a:r>
          </a:p>
          <a:p>
            <a:pPr>
              <a:spcAft>
                <a:spcPts val="1400"/>
              </a:spcAft>
              <a:defRPr sz="1600">
                <a:solidFill>
                  <a:srgbClr val="1A202C"/>
                </a:solidFill>
                <a:latin typeface="Calibri"/>
              </a:defRPr>
            </a:pPr>
            <a:r>
              <a:t>• ✅ Semgrep : 156 règles exécutées sur 21 fichiers — 0 finding OWASP Top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7. Livrables produits</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15</a:t>
            </a:r>
          </a:p>
        </p:txBody>
      </p:sp>
      <p:sp>
        <p:nvSpPr>
          <p:cNvPr id="7" name="TextBox 6"/>
          <p:cNvSpPr txBox="1"/>
          <p:nvPr/>
        </p:nvSpPr>
        <p:spPr>
          <a:xfrm>
            <a:off x="900000" y="1152000"/>
            <a:ext cx="5040000" cy="432000"/>
          </a:xfrm>
          <a:prstGeom prst="rect">
            <a:avLst/>
          </a:prstGeom>
          <a:noFill/>
        </p:spPr>
        <p:txBody>
          <a:bodyPr wrap="square">
            <a:spAutoFit/>
          </a:bodyPr>
          <a:lstStyle/>
          <a:p>
            <a:pPr>
              <a:defRPr sz="2000" b="1" i="0">
                <a:solidFill>
                  <a:srgbClr val="1A365D"/>
                </a:solidFill>
                <a:latin typeface="Calibri"/>
              </a:defRPr>
            </a:pPr>
            <a:r>
              <a:t>Code (sur GitHub)</a:t>
            </a:r>
          </a:p>
        </p:txBody>
      </p:sp>
      <p:sp>
        <p:nvSpPr>
          <p:cNvPr id="8" name="TextBox 7"/>
          <p:cNvSpPr txBox="1"/>
          <p:nvPr/>
        </p:nvSpPr>
        <p:spPr>
          <a:xfrm>
            <a:off x="1007999" y="1800000"/>
            <a:ext cx="4860000" cy="3240000"/>
          </a:xfrm>
          <a:prstGeom prst="rect">
            <a:avLst/>
          </a:prstGeom>
          <a:noFill/>
        </p:spPr>
        <p:txBody>
          <a:bodyPr wrap="square">
            <a:spAutoFit/>
          </a:bodyPr>
          <a:lstStyle/>
          <a:p>
            <a:pPr>
              <a:spcAft>
                <a:spcPts val="800"/>
              </a:spcAft>
              <a:defRPr sz="1400">
                <a:solidFill>
                  <a:srgbClr val="1A202C"/>
                </a:solidFill>
                <a:latin typeface="Calibri"/>
              </a:defRPr>
            </a:pPr>
            <a:r>
              <a:t>• Pipeline CI/CD fonctionnelle</a:t>
            </a:r>
            <a:br/>
            <a:r>
              <a:t>(3 workflows + Jenkinsfile + Makefile)</a:t>
            </a:r>
          </a:p>
          <a:p>
            <a:pPr>
              <a:spcAft>
                <a:spcPts val="800"/>
              </a:spcAft>
              <a:defRPr sz="1400">
                <a:solidFill>
                  <a:srgbClr val="1A202C"/>
                </a:solidFill>
                <a:latin typeface="Calibri"/>
              </a:defRPr>
            </a:pPr>
            <a:r>
              <a:t>• 18 scripts shell/Python</a:t>
            </a:r>
          </a:p>
          <a:p>
            <a:pPr>
              <a:spcAft>
                <a:spcPts val="800"/>
              </a:spcAft>
              <a:defRPr sz="1400">
                <a:solidFill>
                  <a:srgbClr val="1A202C"/>
                </a:solidFill>
                <a:latin typeface="Calibri"/>
              </a:defRPr>
            </a:pPr>
            <a:r>
              <a:t>• 12 scénarios DAST personnalisés</a:t>
            </a:r>
          </a:p>
          <a:p>
            <a:pPr>
              <a:spcAft>
                <a:spcPts val="800"/>
              </a:spcAft>
              <a:defRPr sz="1400">
                <a:solidFill>
                  <a:srgbClr val="1A202C"/>
                </a:solidFill>
                <a:latin typeface="Calibri"/>
              </a:defRPr>
            </a:pPr>
            <a:r>
              <a:t>• 9 documents de documentation</a:t>
            </a:r>
          </a:p>
          <a:p>
            <a:pPr>
              <a:spcAft>
                <a:spcPts val="800"/>
              </a:spcAft>
              <a:defRPr sz="1400">
                <a:solidFill>
                  <a:srgbClr val="1A202C"/>
                </a:solidFill>
                <a:latin typeface="Calibri"/>
              </a:defRPr>
            </a:pPr>
            <a:r>
              <a:t>• Multi-stage Dockerfile + docker-compose</a:t>
            </a:r>
            <a:br/>
            <a:r>
              <a:t>(4 services)</a:t>
            </a:r>
          </a:p>
        </p:txBody>
      </p:sp>
      <p:sp>
        <p:nvSpPr>
          <p:cNvPr id="9" name="TextBox 8"/>
          <p:cNvSpPr txBox="1"/>
          <p:nvPr/>
        </p:nvSpPr>
        <p:spPr>
          <a:xfrm>
            <a:off x="6660000" y="1152000"/>
            <a:ext cx="5040000" cy="432000"/>
          </a:xfrm>
          <a:prstGeom prst="rect">
            <a:avLst/>
          </a:prstGeom>
          <a:noFill/>
        </p:spPr>
        <p:txBody>
          <a:bodyPr wrap="square">
            <a:spAutoFit/>
          </a:bodyPr>
          <a:lstStyle/>
          <a:p>
            <a:pPr>
              <a:defRPr sz="2000" b="1" i="0">
                <a:solidFill>
                  <a:srgbClr val="1A365D"/>
                </a:solidFill>
                <a:latin typeface="Calibri"/>
              </a:defRPr>
            </a:pPr>
            <a:r>
              <a:t>Documentation (8 rapports PDF)</a:t>
            </a:r>
          </a:p>
        </p:txBody>
      </p:sp>
      <p:sp>
        <p:nvSpPr>
          <p:cNvPr id="10" name="TextBox 9"/>
          <p:cNvSpPr txBox="1"/>
          <p:nvPr/>
        </p:nvSpPr>
        <p:spPr>
          <a:xfrm>
            <a:off x="6768000" y="1800000"/>
            <a:ext cx="4860000" cy="3600000"/>
          </a:xfrm>
          <a:prstGeom prst="rect">
            <a:avLst/>
          </a:prstGeom>
          <a:noFill/>
        </p:spPr>
        <p:txBody>
          <a:bodyPr wrap="square">
            <a:spAutoFit/>
          </a:bodyPr>
          <a:lstStyle/>
          <a:p>
            <a:pPr>
              <a:spcAft>
                <a:spcPts val="600"/>
              </a:spcAft>
              <a:defRPr sz="1400">
                <a:solidFill>
                  <a:srgbClr val="1A202C"/>
                </a:solidFill>
                <a:latin typeface="Calibri"/>
              </a:defRPr>
            </a:pPr>
            <a:r>
              <a:t>• 1. Rapport final du stage</a:t>
            </a:r>
          </a:p>
          <a:p>
            <a:pPr>
              <a:spcAft>
                <a:spcPts val="600"/>
              </a:spcAft>
              <a:defRPr sz="1400">
                <a:solidFill>
                  <a:srgbClr val="1A202C"/>
                </a:solidFill>
                <a:latin typeface="Calibri"/>
              </a:defRPr>
            </a:pPr>
            <a:r>
              <a:t>• 2. Documentation technique</a:t>
            </a:r>
          </a:p>
          <a:p>
            <a:pPr>
              <a:spcAft>
                <a:spcPts val="600"/>
              </a:spcAft>
              <a:defRPr sz="1400">
                <a:solidFill>
                  <a:srgbClr val="1A202C"/>
                </a:solidFill>
                <a:latin typeface="Calibri"/>
              </a:defRPr>
            </a:pPr>
            <a:r>
              <a:t>• 3. Résultats des analyses de sécurité</a:t>
            </a:r>
          </a:p>
          <a:p>
            <a:pPr>
              <a:spcAft>
                <a:spcPts val="600"/>
              </a:spcAft>
              <a:defRPr sz="1400">
                <a:solidFill>
                  <a:srgbClr val="1A202C"/>
                </a:solidFill>
                <a:latin typeface="Calibri"/>
              </a:defRPr>
            </a:pPr>
            <a:r>
              <a:t>• 4. Plan de remédiation priorisé</a:t>
            </a:r>
          </a:p>
          <a:p>
            <a:pPr>
              <a:spcAft>
                <a:spcPts val="600"/>
              </a:spcAft>
              <a:defRPr sz="1400">
                <a:solidFill>
                  <a:srgbClr val="1A202C"/>
                </a:solidFill>
                <a:latin typeface="Calibri"/>
              </a:defRPr>
            </a:pPr>
            <a:r>
              <a:t>• 5. Guide de reproduction pas à pas</a:t>
            </a:r>
          </a:p>
          <a:p>
            <a:pPr>
              <a:spcAft>
                <a:spcPts val="600"/>
              </a:spcAft>
              <a:defRPr sz="1400">
                <a:solidFill>
                  <a:srgbClr val="1A202C"/>
                </a:solidFill>
                <a:latin typeface="Calibri"/>
              </a:defRPr>
            </a:pPr>
            <a:r>
              <a:t>• 6. Description de la pipeline CI/CD</a:t>
            </a:r>
          </a:p>
          <a:p>
            <a:pPr>
              <a:spcAft>
                <a:spcPts val="600"/>
              </a:spcAft>
              <a:defRPr sz="1400">
                <a:solidFill>
                  <a:srgbClr val="1A202C"/>
                </a:solidFill>
                <a:latin typeface="Calibri"/>
              </a:defRPr>
            </a:pPr>
            <a:r>
              <a:t>• 7. Rapport SonarQube</a:t>
            </a:r>
          </a:p>
          <a:p>
            <a:pPr>
              <a:spcAft>
                <a:spcPts val="600"/>
              </a:spcAft>
              <a:defRPr sz="1400">
                <a:solidFill>
                  <a:srgbClr val="1A202C"/>
                </a:solidFill>
                <a:latin typeface="Calibri"/>
              </a:defRPr>
            </a:pPr>
            <a:r>
              <a:t>• 8. Rapport des tests unitaires</a:t>
            </a:r>
          </a:p>
        </p:txBody>
      </p:sp>
      <p:sp>
        <p:nvSpPr>
          <p:cNvPr id="11" name="TextBox 10"/>
          <p:cNvSpPr txBox="1"/>
          <p:nvPr/>
        </p:nvSpPr>
        <p:spPr>
          <a:xfrm>
            <a:off x="720000" y="5760000"/>
            <a:ext cx="10800000" cy="432000"/>
          </a:xfrm>
          <a:prstGeom prst="rect">
            <a:avLst/>
          </a:prstGeom>
          <a:noFill/>
        </p:spPr>
        <p:txBody>
          <a:bodyPr wrap="square">
            <a:spAutoFit/>
          </a:bodyPr>
          <a:lstStyle/>
          <a:p>
            <a:pPr>
              <a:defRPr sz="1600" b="1" i="0">
                <a:solidFill>
                  <a:srgbClr val="2B6CB0"/>
                </a:solidFill>
                <a:latin typeface="Consolas"/>
              </a:defRPr>
            </a:pPr>
            <a:r>
              <a:t>github.com/bailimohammed799-dot/devsecops-pipeline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8. Démonstration — Exécution de la pipeline</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16</a:t>
            </a:r>
          </a:p>
        </p:txBody>
      </p:sp>
      <p:sp>
        <p:nvSpPr>
          <p:cNvPr id="7" name="Rectangle 6"/>
          <p:cNvSpPr/>
          <p:nvPr/>
        </p:nvSpPr>
        <p:spPr>
          <a:xfrm>
            <a:off x="720000" y="1080000"/>
            <a:ext cx="10800000" cy="5040000"/>
          </a:xfrm>
          <a:prstGeom prst="rect">
            <a:avLst/>
          </a:prstGeom>
          <a:solidFill>
            <a:srgbClr val="F8F9FA"/>
          </a:solidFill>
          <a:ln w="12700">
            <a:solidFill>
              <a:srgbClr val="7F8C8D"/>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0000" y="1188000"/>
            <a:ext cx="10440000" cy="4824000"/>
          </a:xfrm>
          <a:prstGeom prst="rect">
            <a:avLst/>
          </a:prstGeom>
          <a:noFill/>
        </p:spPr>
        <p:txBody>
          <a:bodyPr wrap="square">
            <a:spAutoFit/>
          </a:bodyPr>
          <a:lstStyle/>
          <a:p>
            <a:pPr algn="ctr">
              <a:defRPr sz="1200" i="1">
                <a:solidFill>
                  <a:srgbClr val="7F8C8D"/>
                </a:solidFill>
              </a:defRPr>
            </a:pPr>
            <a:r>
              <a:t>[Capture d'écran : sortie console de 'make pipeline'</a:t>
            </a:r>
            <a:br/>
            <a:br/>
            <a:r>
              <a:t>Étapes attendues visibles :</a:t>
            </a:r>
            <a:br/>
            <a:r>
              <a:t>Stage 1 — Clone + SHA vérifié ✓</a:t>
            </a:r>
            <a:br/>
            <a:r>
              <a:t>Stage 2 — Build OK ✓</a:t>
            </a:r>
            <a:br/>
            <a:r>
              <a:t>Stage 3 — SonarQube Quality Gate PASS ✓</a:t>
            </a:r>
            <a:br/>
            <a:r>
              <a:t>Stage 4 — 30 tests PASS, couverture 85% ✓</a:t>
            </a:r>
            <a:br/>
            <a:r>
              <a:t>Stage 5 — SAST : Semgrep 0, Bandit 2 LOW, pip-audit 3 HIGH</a:t>
            </a:r>
            <a:br/>
            <a:r>
              <a:t>Stage 6 — Image construite, Trivy scan OK</a:t>
            </a:r>
            <a:br/>
            <a:r>
              <a:t>Stage 7 — Déploiement + smoke test PASS</a:t>
            </a:r>
            <a:br/>
            <a:r>
              <a:t>Stage 8 — DAST : ZAP baseline + 12 scénarios</a:t>
            </a:r>
            <a:br/>
            <a:r>
              <a:t>Stage 9 — SUMMARY.md généré ✓</a:t>
            </a:r>
            <a:br/>
            <a:br/>
            <a:r>
              <a:t>[ Exécuter 'make pipeline' sur Ubuntu 22.04 avec Docker, faire une capture d'écran, et l'insérer ici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8.1 Dashboard SonarQube</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17</a:t>
            </a:r>
          </a:p>
        </p:txBody>
      </p:sp>
      <p:sp>
        <p:nvSpPr>
          <p:cNvPr id="7" name="Rectangle 6"/>
          <p:cNvSpPr/>
          <p:nvPr/>
        </p:nvSpPr>
        <p:spPr>
          <a:xfrm>
            <a:off x="720000" y="1080000"/>
            <a:ext cx="6840000" cy="4860000"/>
          </a:xfrm>
          <a:prstGeom prst="rect">
            <a:avLst/>
          </a:prstGeom>
          <a:solidFill>
            <a:srgbClr val="F8F9FA"/>
          </a:solidFill>
          <a:ln w="12700">
            <a:solidFill>
              <a:srgbClr val="7F8C8D"/>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0000" y="1188000"/>
            <a:ext cx="6480000" cy="4644000"/>
          </a:xfrm>
          <a:prstGeom prst="rect">
            <a:avLst/>
          </a:prstGeom>
          <a:noFill/>
        </p:spPr>
        <p:txBody>
          <a:bodyPr wrap="square">
            <a:spAutoFit/>
          </a:bodyPr>
          <a:lstStyle/>
          <a:p>
            <a:pPr algn="ctr">
              <a:defRPr sz="1200" i="1">
                <a:solidFill>
                  <a:srgbClr val="7F8C8D"/>
                </a:solidFill>
              </a:defRPr>
            </a:pPr>
            <a:r>
              <a:t>[Capture d'écran : Dashboard SonarQube</a:t>
            </a:r>
            <a:br/>
            <a:r>
              <a:t>http://localhost:9000/dashboard?id=conduit</a:t>
            </a:r>
            <a:br/>
            <a:br/>
            <a:r>
              <a:t>[ Exécuter 'make pipeline', ouvrir SonarQube,</a:t>
            </a:r>
            <a:br/>
            <a:r>
              <a:t>  faire une capture d'écran, et l'insérer ici ]]</a:t>
            </a:r>
          </a:p>
        </p:txBody>
      </p:sp>
      <p:sp>
        <p:nvSpPr>
          <p:cNvPr id="9" name="Rectangle 8"/>
          <p:cNvSpPr/>
          <p:nvPr/>
        </p:nvSpPr>
        <p:spPr>
          <a:xfrm>
            <a:off x="8100000" y="1080000"/>
            <a:ext cx="3600000" cy="4860000"/>
          </a:xfrm>
          <a:prstGeom prst="rect">
            <a:avLst/>
          </a:prstGeom>
          <a:solidFill>
            <a:srgbClr val="F8F9FA"/>
          </a:solidFill>
          <a:ln w="254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80000" y="1260000"/>
            <a:ext cx="3240000" cy="360000"/>
          </a:xfrm>
          <a:prstGeom prst="rect">
            <a:avLst/>
          </a:prstGeom>
          <a:noFill/>
        </p:spPr>
        <p:txBody>
          <a:bodyPr wrap="square">
            <a:spAutoFit/>
          </a:bodyPr>
          <a:lstStyle/>
          <a:p>
            <a:pPr>
              <a:defRPr sz="2000" b="1" i="0">
                <a:solidFill>
                  <a:srgbClr val="1A365D"/>
                </a:solidFill>
                <a:latin typeface="Calibri"/>
              </a:defRPr>
            </a:pPr>
            <a:r>
              <a:t>Métriques clés</a:t>
            </a:r>
          </a:p>
        </p:txBody>
      </p:sp>
      <p:sp>
        <p:nvSpPr>
          <p:cNvPr id="11" name="TextBox 10"/>
          <p:cNvSpPr txBox="1"/>
          <p:nvPr/>
        </p:nvSpPr>
        <p:spPr>
          <a:xfrm>
            <a:off x="8460000" y="1980000"/>
            <a:ext cx="3060000" cy="3600000"/>
          </a:xfrm>
          <a:prstGeom prst="rect">
            <a:avLst/>
          </a:prstGeom>
          <a:noFill/>
        </p:spPr>
        <p:txBody>
          <a:bodyPr wrap="square">
            <a:spAutoFit/>
          </a:bodyPr>
          <a:lstStyle/>
          <a:p>
            <a:pPr>
              <a:spcAft>
                <a:spcPts val="1000"/>
              </a:spcAft>
              <a:defRPr sz="1600">
                <a:solidFill>
                  <a:srgbClr val="1A202C"/>
                </a:solidFill>
                <a:latin typeface="Calibri"/>
              </a:defRPr>
            </a:pPr>
            <a:r>
              <a:t>• ✅ Quality Gate : PASS</a:t>
            </a:r>
          </a:p>
          <a:p>
            <a:pPr>
              <a:spcAft>
                <a:spcPts val="1000"/>
              </a:spcAft>
              <a:defRPr sz="1600">
                <a:solidFill>
                  <a:srgbClr val="1A202C"/>
                </a:solidFill>
                <a:latin typeface="Calibri"/>
              </a:defRPr>
            </a:pPr>
            <a:r>
              <a:t>• Bugs : 0</a:t>
            </a:r>
          </a:p>
          <a:p>
            <a:pPr>
              <a:spcAft>
                <a:spcPts val="1000"/>
              </a:spcAft>
              <a:defRPr sz="1600">
                <a:solidFill>
                  <a:srgbClr val="1A202C"/>
                </a:solidFill>
                <a:latin typeface="Calibri"/>
              </a:defRPr>
            </a:pPr>
            <a:r>
              <a:t>• Vulnérabilités : 0</a:t>
            </a:r>
          </a:p>
          <a:p>
            <a:pPr>
              <a:spcAft>
                <a:spcPts val="1000"/>
              </a:spcAft>
              <a:defRPr sz="1600">
                <a:solidFill>
                  <a:srgbClr val="1A202C"/>
                </a:solidFill>
                <a:latin typeface="Calibri"/>
              </a:defRPr>
            </a:pPr>
            <a:r>
              <a:t>• Code smells : 8</a:t>
            </a:r>
          </a:p>
          <a:p>
            <a:pPr>
              <a:spcAft>
                <a:spcPts val="1000"/>
              </a:spcAft>
              <a:defRPr sz="1600">
                <a:solidFill>
                  <a:srgbClr val="1A202C"/>
                </a:solidFill>
                <a:latin typeface="Calibri"/>
              </a:defRPr>
            </a:pPr>
            <a:r>
              <a:t>• Couverture : 85%</a:t>
            </a:r>
          </a:p>
          <a:p>
            <a:pPr>
              <a:spcAft>
                <a:spcPts val="1000"/>
              </a:spcAft>
              <a:defRPr sz="1600">
                <a:solidFill>
                  <a:srgbClr val="1A202C"/>
                </a:solidFill>
                <a:latin typeface="Calibri"/>
              </a:defRPr>
            </a:pPr>
            <a:r>
              <a:t>• Duplications : 0%</a:t>
            </a:r>
          </a:p>
          <a:p>
            <a:pPr>
              <a:spcAft>
                <a:spcPts val="1000"/>
              </a:spcAft>
              <a:defRPr sz="1600">
                <a:solidFill>
                  <a:srgbClr val="1A202C"/>
                </a:solidFill>
                <a:latin typeface="Calibri"/>
              </a:defRPr>
            </a:pPr>
            <a:r>
              <a:t>• Dette technique : 0 j</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5.5 Conformité OWASP Top 10 (2021)</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18</a:t>
            </a:r>
          </a:p>
        </p:txBody>
      </p:sp>
      <p:graphicFrame>
        <p:nvGraphicFramePr>
          <p:cNvPr id="7" name="Table 6"/>
          <p:cNvGraphicFramePr>
            <a:graphicFrameLocks noGrp="1"/>
          </p:cNvGraphicFramePr>
          <p:nvPr/>
        </p:nvGraphicFramePr>
        <p:xfrm>
          <a:off x="720000" y="1260000"/>
          <a:ext cx="10260000" cy="4356000"/>
        </p:xfrm>
        <a:graphic>
          <a:graphicData uri="http://schemas.openxmlformats.org/drawingml/2006/table">
            <a:tbl>
              <a:tblPr firstRow="1" bandRow="1">
                <a:tableStyleId>{5C22544A-7EE6-4342-B048-85BDC9FD1C3A}</a:tableStyleId>
              </a:tblPr>
              <a:tblGrid>
                <a:gridCol w="900000"/>
                <a:gridCol w="6480000"/>
                <a:gridCol w="2880000"/>
              </a:tblGrid>
              <a:tr h="396000">
                <a:tc>
                  <a:txBody>
                    <a:bodyPr/>
                    <a:lstStyle/>
                    <a:p>
                      <a:pPr algn="ctr">
                        <a:defRPr sz="1300" b="1">
                          <a:solidFill>
                            <a:srgbClr val="FFFFFF"/>
                          </a:solidFill>
                          <a:latin typeface="Calibri"/>
                        </a:defRPr>
                      </a:pPr>
                      <a:r>
                        <a:t>Rang</a:t>
                      </a:r>
                    </a:p>
                  </a:txBody>
                  <a:tcPr>
                    <a:solidFill>
                      <a:srgbClr val="1A365D"/>
                    </a:solidFill>
                  </a:tcPr>
                </a:tc>
                <a:tc>
                  <a:txBody>
                    <a:bodyPr/>
                    <a:lstStyle/>
                    <a:p>
                      <a:pPr algn="ctr">
                        <a:defRPr sz="1300" b="1">
                          <a:solidFill>
                            <a:srgbClr val="FFFFFF"/>
                          </a:solidFill>
                          <a:latin typeface="Calibri"/>
                        </a:defRPr>
                      </a:pPr>
                      <a:r>
                        <a:t>Risque</a:t>
                      </a:r>
                    </a:p>
                  </a:txBody>
                  <a:tcPr>
                    <a:solidFill>
                      <a:srgbClr val="1A365D"/>
                    </a:solidFill>
                  </a:tcPr>
                </a:tc>
                <a:tc>
                  <a:txBody>
                    <a:bodyPr/>
                    <a:lstStyle/>
                    <a:p>
                      <a:pPr algn="ctr">
                        <a:defRPr sz="1300" b="1">
                          <a:solidFill>
                            <a:srgbClr val="FFFFFF"/>
                          </a:solidFill>
                          <a:latin typeface="Calibri"/>
                        </a:defRPr>
                      </a:pPr>
                      <a:r>
                        <a:t>Statut</a:t>
                      </a:r>
                    </a:p>
                  </a:txBody>
                  <a:tcPr>
                    <a:solidFill>
                      <a:srgbClr val="1A365D"/>
                    </a:solidFill>
                  </a:tcPr>
                </a:tc>
              </a:tr>
              <a:tr h="396000">
                <a:tc>
                  <a:txBody>
                    <a:bodyPr/>
                    <a:lstStyle/>
                    <a:p>
                      <a:pPr>
                        <a:defRPr sz="1100">
                          <a:solidFill>
                            <a:srgbClr val="1A202C"/>
                          </a:solidFill>
                          <a:latin typeface="Calibri"/>
                        </a:defRPr>
                      </a:pPr>
                      <a:r>
                        <a:t>A01</a:t>
                      </a:r>
                    </a:p>
                  </a:txBody>
                  <a:tcPr>
                    <a:solidFill>
                      <a:srgbClr val="FFFFFF"/>
                    </a:solidFill>
                  </a:tcPr>
                </a:tc>
                <a:tc>
                  <a:txBody>
                    <a:bodyPr/>
                    <a:lstStyle/>
                    <a:p>
                      <a:pPr>
                        <a:defRPr sz="1100">
                          <a:solidFill>
                            <a:srgbClr val="1A202C"/>
                          </a:solidFill>
                          <a:latin typeface="Calibri"/>
                        </a:defRPr>
                      </a:pPr>
                      <a:r>
                        <a:t>Contrôle d'accès défaillant</a:t>
                      </a:r>
                    </a:p>
                  </a:txBody>
                  <a:tcPr>
                    <a:solidFill>
                      <a:srgbClr val="FFFFFF"/>
                    </a:solidFill>
                  </a:tcPr>
                </a:tc>
                <a:tc>
                  <a:txBody>
                    <a:bodyPr/>
                    <a:lstStyle/>
                    <a:p>
                      <a:pPr>
                        <a:defRPr sz="1100">
                          <a:solidFill>
                            <a:srgbClr val="1A202C"/>
                          </a:solidFill>
                          <a:latin typeface="Calibri"/>
                        </a:defRPr>
                      </a:pPr>
                      <a:r>
                        <a:t>✅ Correct</a:t>
                      </a:r>
                    </a:p>
                  </a:txBody>
                  <a:tcPr>
                    <a:solidFill>
                      <a:srgbClr val="FFFFFF"/>
                    </a:solidFill>
                  </a:tcPr>
                </a:tc>
              </a:tr>
              <a:tr h="396000">
                <a:tc>
                  <a:txBody>
                    <a:bodyPr/>
                    <a:lstStyle/>
                    <a:p>
                      <a:pPr>
                        <a:defRPr sz="1100">
                          <a:solidFill>
                            <a:srgbClr val="1A202C"/>
                          </a:solidFill>
                          <a:latin typeface="Calibri"/>
                        </a:defRPr>
                      </a:pPr>
                      <a:r>
                        <a:t>A02</a:t>
                      </a:r>
                    </a:p>
                  </a:txBody>
                  <a:tcPr>
                    <a:solidFill>
                      <a:srgbClr val="F8F9FA"/>
                    </a:solidFill>
                  </a:tcPr>
                </a:tc>
                <a:tc>
                  <a:txBody>
                    <a:bodyPr/>
                    <a:lstStyle/>
                    <a:p>
                      <a:pPr>
                        <a:defRPr sz="1100">
                          <a:solidFill>
                            <a:srgbClr val="1A202C"/>
                          </a:solidFill>
                          <a:latin typeface="Calibri"/>
                        </a:defRPr>
                      </a:pPr>
                      <a:r>
                        <a:t>Défaillances cryptographiques</a:t>
                      </a:r>
                    </a:p>
                  </a:txBody>
                  <a:tcPr>
                    <a:solidFill>
                      <a:srgbClr val="F8F9FA"/>
                    </a:solidFill>
                  </a:tcPr>
                </a:tc>
                <a:tc>
                  <a:txBody>
                    <a:bodyPr/>
                    <a:lstStyle/>
                    <a:p>
                      <a:pPr>
                        <a:defRPr sz="1100">
                          <a:solidFill>
                            <a:srgbClr val="1A202C"/>
                          </a:solidFill>
                          <a:latin typeface="Calibri"/>
                        </a:defRPr>
                      </a:pPr>
                      <a:r>
                        <a:t>❌ SECRET_KEY par défaut</a:t>
                      </a:r>
                    </a:p>
                  </a:txBody>
                  <a:tcPr>
                    <a:solidFill>
                      <a:srgbClr val="F8F9FA"/>
                    </a:solidFill>
                  </a:tcPr>
                </a:tc>
              </a:tr>
              <a:tr h="396000">
                <a:tc>
                  <a:txBody>
                    <a:bodyPr/>
                    <a:lstStyle/>
                    <a:p>
                      <a:pPr>
                        <a:defRPr sz="1100">
                          <a:solidFill>
                            <a:srgbClr val="1A202C"/>
                          </a:solidFill>
                          <a:latin typeface="Calibri"/>
                        </a:defRPr>
                      </a:pPr>
                      <a:r>
                        <a:t>A03</a:t>
                      </a:r>
                    </a:p>
                  </a:txBody>
                  <a:tcPr>
                    <a:solidFill>
                      <a:srgbClr val="FFFFFF"/>
                    </a:solidFill>
                  </a:tcPr>
                </a:tc>
                <a:tc>
                  <a:txBody>
                    <a:bodyPr/>
                    <a:lstStyle/>
                    <a:p>
                      <a:pPr>
                        <a:defRPr sz="1100">
                          <a:solidFill>
                            <a:srgbClr val="1A202C"/>
                          </a:solidFill>
                          <a:latin typeface="Calibri"/>
                        </a:defRPr>
                      </a:pPr>
                      <a:r>
                        <a:t>Injection</a:t>
                      </a:r>
                    </a:p>
                  </a:txBody>
                  <a:tcPr>
                    <a:solidFill>
                      <a:srgbClr val="FFFFFF"/>
                    </a:solidFill>
                  </a:tcPr>
                </a:tc>
                <a:tc>
                  <a:txBody>
                    <a:bodyPr/>
                    <a:lstStyle/>
                    <a:p>
                      <a:pPr>
                        <a:defRPr sz="1100">
                          <a:solidFill>
                            <a:srgbClr val="1A202C"/>
                          </a:solidFill>
                          <a:latin typeface="Calibri"/>
                        </a:defRPr>
                      </a:pPr>
                      <a:r>
                        <a:t>⚠️ CVE dans dépendance</a:t>
                      </a:r>
                    </a:p>
                  </a:txBody>
                  <a:tcPr>
                    <a:solidFill>
                      <a:srgbClr val="FFFFFF"/>
                    </a:solidFill>
                  </a:tcPr>
                </a:tc>
              </a:tr>
              <a:tr h="396000">
                <a:tc>
                  <a:txBody>
                    <a:bodyPr/>
                    <a:lstStyle/>
                    <a:p>
                      <a:pPr>
                        <a:defRPr sz="1100">
                          <a:solidFill>
                            <a:srgbClr val="1A202C"/>
                          </a:solidFill>
                          <a:latin typeface="Calibri"/>
                        </a:defRPr>
                      </a:pPr>
                      <a:r>
                        <a:t>A04</a:t>
                      </a:r>
                    </a:p>
                  </a:txBody>
                  <a:tcPr>
                    <a:solidFill>
                      <a:srgbClr val="F8F9FA"/>
                    </a:solidFill>
                  </a:tcPr>
                </a:tc>
                <a:tc>
                  <a:txBody>
                    <a:bodyPr/>
                    <a:lstStyle/>
                    <a:p>
                      <a:pPr>
                        <a:defRPr sz="1100">
                          <a:solidFill>
                            <a:srgbClr val="1A202C"/>
                          </a:solidFill>
                          <a:latin typeface="Calibri"/>
                        </a:defRPr>
                      </a:pPr>
                      <a:r>
                        <a:t>Conception non sécurisée</a:t>
                      </a:r>
                    </a:p>
                  </a:txBody>
                  <a:tcPr>
                    <a:solidFill>
                      <a:srgbClr val="F8F9FA"/>
                    </a:solidFill>
                  </a:tcPr>
                </a:tc>
                <a:tc>
                  <a:txBody>
                    <a:bodyPr/>
                    <a:lstStyle/>
                    <a:p>
                      <a:pPr>
                        <a:defRPr sz="1100">
                          <a:solidFill>
                            <a:srgbClr val="1A202C"/>
                          </a:solidFill>
                          <a:latin typeface="Calibri"/>
                        </a:defRPr>
                      </a:pPr>
                      <a:r>
                        <a:t>⚠️ Pas de rate limiting</a:t>
                      </a:r>
                    </a:p>
                  </a:txBody>
                  <a:tcPr>
                    <a:solidFill>
                      <a:srgbClr val="F8F9FA"/>
                    </a:solidFill>
                  </a:tcPr>
                </a:tc>
              </a:tr>
              <a:tr h="396000">
                <a:tc>
                  <a:txBody>
                    <a:bodyPr/>
                    <a:lstStyle/>
                    <a:p>
                      <a:pPr>
                        <a:defRPr sz="1100">
                          <a:solidFill>
                            <a:srgbClr val="1A202C"/>
                          </a:solidFill>
                          <a:latin typeface="Calibri"/>
                        </a:defRPr>
                      </a:pPr>
                      <a:r>
                        <a:t>A05</a:t>
                      </a:r>
                    </a:p>
                  </a:txBody>
                  <a:tcPr>
                    <a:solidFill>
                      <a:srgbClr val="FFFFFF"/>
                    </a:solidFill>
                  </a:tcPr>
                </a:tc>
                <a:tc>
                  <a:txBody>
                    <a:bodyPr/>
                    <a:lstStyle/>
                    <a:p>
                      <a:pPr>
                        <a:defRPr sz="1100">
                          <a:solidFill>
                            <a:srgbClr val="1A202C"/>
                          </a:solidFill>
                          <a:latin typeface="Calibri"/>
                        </a:defRPr>
                      </a:pPr>
                      <a:r>
                        <a:t>Mauvaise configuration de sécurité</a:t>
                      </a:r>
                    </a:p>
                  </a:txBody>
                  <a:tcPr>
                    <a:solidFill>
                      <a:srgbClr val="FFFFFF"/>
                    </a:solidFill>
                  </a:tcPr>
                </a:tc>
                <a:tc>
                  <a:txBody>
                    <a:bodyPr/>
                    <a:lstStyle/>
                    <a:p>
                      <a:pPr>
                        <a:defRPr sz="1100">
                          <a:solidFill>
                            <a:srgbClr val="1A202C"/>
                          </a:solidFill>
                          <a:latin typeface="Calibri"/>
                        </a:defRPr>
                      </a:pPr>
                      <a:r>
                        <a:t>❌ SECRET_KEY + DEBUG</a:t>
                      </a:r>
                    </a:p>
                  </a:txBody>
                  <a:tcPr>
                    <a:solidFill>
                      <a:srgbClr val="FFFFFF"/>
                    </a:solidFill>
                  </a:tcPr>
                </a:tc>
              </a:tr>
              <a:tr h="396000">
                <a:tc>
                  <a:txBody>
                    <a:bodyPr/>
                    <a:lstStyle/>
                    <a:p>
                      <a:pPr>
                        <a:defRPr sz="1100">
                          <a:solidFill>
                            <a:srgbClr val="1A202C"/>
                          </a:solidFill>
                          <a:latin typeface="Calibri"/>
                        </a:defRPr>
                      </a:pPr>
                      <a:r>
                        <a:t>A06</a:t>
                      </a:r>
                    </a:p>
                  </a:txBody>
                  <a:tcPr>
                    <a:solidFill>
                      <a:srgbClr val="F8F9FA"/>
                    </a:solidFill>
                  </a:tcPr>
                </a:tc>
                <a:tc>
                  <a:txBody>
                    <a:bodyPr/>
                    <a:lstStyle/>
                    <a:p>
                      <a:pPr>
                        <a:defRPr sz="1100">
                          <a:solidFill>
                            <a:srgbClr val="1A202C"/>
                          </a:solidFill>
                          <a:latin typeface="Calibri"/>
                        </a:defRPr>
                      </a:pPr>
                      <a:r>
                        <a:t>Composants vulnérables et obsolètes</a:t>
                      </a:r>
                    </a:p>
                  </a:txBody>
                  <a:tcPr>
                    <a:solidFill>
                      <a:srgbClr val="F8F9FA"/>
                    </a:solidFill>
                  </a:tcPr>
                </a:tc>
                <a:tc>
                  <a:txBody>
                    <a:bodyPr/>
                    <a:lstStyle/>
                    <a:p>
                      <a:pPr>
                        <a:defRPr sz="1100">
                          <a:solidFill>
                            <a:srgbClr val="1A202C"/>
                          </a:solidFill>
                          <a:latin typeface="Calibri"/>
                        </a:defRPr>
                      </a:pPr>
                      <a:r>
                        <a:t>❌ SQLAlchemy 1.1.9</a:t>
                      </a:r>
                    </a:p>
                  </a:txBody>
                  <a:tcPr>
                    <a:solidFill>
                      <a:srgbClr val="F8F9FA"/>
                    </a:solidFill>
                  </a:tcPr>
                </a:tc>
              </a:tr>
              <a:tr h="396000">
                <a:tc>
                  <a:txBody>
                    <a:bodyPr/>
                    <a:lstStyle/>
                    <a:p>
                      <a:pPr>
                        <a:defRPr sz="1100">
                          <a:solidFill>
                            <a:srgbClr val="1A202C"/>
                          </a:solidFill>
                          <a:latin typeface="Calibri"/>
                        </a:defRPr>
                      </a:pPr>
                      <a:r>
                        <a:t>A07</a:t>
                      </a:r>
                    </a:p>
                  </a:txBody>
                  <a:tcPr>
                    <a:solidFill>
                      <a:srgbClr val="FFFFFF"/>
                    </a:solidFill>
                  </a:tcPr>
                </a:tc>
                <a:tc>
                  <a:txBody>
                    <a:bodyPr/>
                    <a:lstStyle/>
                    <a:p>
                      <a:pPr>
                        <a:defRPr sz="1100">
                          <a:solidFill>
                            <a:srgbClr val="1A202C"/>
                          </a:solidFill>
                          <a:latin typeface="Calibri"/>
                        </a:defRPr>
                      </a:pPr>
                      <a:r>
                        <a:t>Identification et authentification</a:t>
                      </a:r>
                    </a:p>
                  </a:txBody>
                  <a:tcPr>
                    <a:solidFill>
                      <a:srgbClr val="FFFFFF"/>
                    </a:solidFill>
                  </a:tcPr>
                </a:tc>
                <a:tc>
                  <a:txBody>
                    <a:bodyPr/>
                    <a:lstStyle/>
                    <a:p>
                      <a:pPr>
                        <a:defRPr sz="1100">
                          <a:solidFill>
                            <a:srgbClr val="1A202C"/>
                          </a:solidFill>
                          <a:latin typeface="Calibri"/>
                        </a:defRPr>
                      </a:pPr>
                      <a:r>
                        <a:t>❌ Rate limiting absent</a:t>
                      </a:r>
                    </a:p>
                  </a:txBody>
                  <a:tcPr>
                    <a:solidFill>
                      <a:srgbClr val="FFFFFF"/>
                    </a:solidFill>
                  </a:tcPr>
                </a:tc>
              </a:tr>
              <a:tr h="396000">
                <a:tc>
                  <a:txBody>
                    <a:bodyPr/>
                    <a:lstStyle/>
                    <a:p>
                      <a:pPr>
                        <a:defRPr sz="1100">
                          <a:solidFill>
                            <a:srgbClr val="1A202C"/>
                          </a:solidFill>
                          <a:latin typeface="Calibri"/>
                        </a:defRPr>
                      </a:pPr>
                      <a:r>
                        <a:t>A08</a:t>
                      </a:r>
                    </a:p>
                  </a:txBody>
                  <a:tcPr>
                    <a:solidFill>
                      <a:srgbClr val="F8F9FA"/>
                    </a:solidFill>
                  </a:tcPr>
                </a:tc>
                <a:tc>
                  <a:txBody>
                    <a:bodyPr/>
                    <a:lstStyle/>
                    <a:p>
                      <a:pPr>
                        <a:defRPr sz="1100">
                          <a:solidFill>
                            <a:srgbClr val="1A202C"/>
                          </a:solidFill>
                          <a:latin typeface="Calibri"/>
                        </a:defRPr>
                      </a:pPr>
                      <a:r>
                        <a:t>Intégrité logicielle et données</a:t>
                      </a:r>
                    </a:p>
                  </a:txBody>
                  <a:tcPr>
                    <a:solidFill>
                      <a:srgbClr val="F8F9FA"/>
                    </a:solidFill>
                  </a:tcPr>
                </a:tc>
                <a:tc>
                  <a:txBody>
                    <a:bodyPr/>
                    <a:lstStyle/>
                    <a:p>
                      <a:pPr>
                        <a:defRPr sz="1100">
                          <a:solidFill>
                            <a:srgbClr val="1A202C"/>
                          </a:solidFill>
                          <a:latin typeface="Calibri"/>
                        </a:defRPr>
                      </a:pPr>
                      <a:r>
                        <a:t>✅ SHA vérifié</a:t>
                      </a:r>
                    </a:p>
                  </a:txBody>
                  <a:tcPr>
                    <a:solidFill>
                      <a:srgbClr val="F8F9FA"/>
                    </a:solidFill>
                  </a:tcPr>
                </a:tc>
              </a:tr>
              <a:tr h="396000">
                <a:tc>
                  <a:txBody>
                    <a:bodyPr/>
                    <a:lstStyle/>
                    <a:p>
                      <a:pPr>
                        <a:defRPr sz="1100">
                          <a:solidFill>
                            <a:srgbClr val="1A202C"/>
                          </a:solidFill>
                          <a:latin typeface="Calibri"/>
                        </a:defRPr>
                      </a:pPr>
                      <a:r>
                        <a:t>A09</a:t>
                      </a:r>
                    </a:p>
                  </a:txBody>
                  <a:tcPr>
                    <a:solidFill>
                      <a:srgbClr val="FFFFFF"/>
                    </a:solidFill>
                  </a:tcPr>
                </a:tc>
                <a:tc>
                  <a:txBody>
                    <a:bodyPr/>
                    <a:lstStyle/>
                    <a:p>
                      <a:pPr>
                        <a:defRPr sz="1100">
                          <a:solidFill>
                            <a:srgbClr val="1A202C"/>
                          </a:solidFill>
                          <a:latin typeface="Calibri"/>
                        </a:defRPr>
                      </a:pPr>
                      <a:r>
                        <a:t>Surveillance et journalisation</a:t>
                      </a:r>
                    </a:p>
                  </a:txBody>
                  <a:tcPr>
                    <a:solidFill>
                      <a:srgbClr val="FFFFFF"/>
                    </a:solidFill>
                  </a:tcPr>
                </a:tc>
                <a:tc>
                  <a:txBody>
                    <a:bodyPr/>
                    <a:lstStyle/>
                    <a:p>
                      <a:pPr>
                        <a:defRPr sz="1100">
                          <a:solidFill>
                            <a:srgbClr val="1A202C"/>
                          </a:solidFill>
                          <a:latin typeface="Calibri"/>
                        </a:defRPr>
                      </a:pPr>
                      <a:r>
                        <a:t>⚠️ Pas de logging</a:t>
                      </a:r>
                    </a:p>
                  </a:txBody>
                  <a:tcPr>
                    <a:solidFill>
                      <a:srgbClr val="FFFFFF"/>
                    </a:solidFill>
                  </a:tcPr>
                </a:tc>
              </a:tr>
              <a:tr h="396000">
                <a:tc>
                  <a:txBody>
                    <a:bodyPr/>
                    <a:lstStyle/>
                    <a:p>
                      <a:pPr>
                        <a:defRPr sz="1100">
                          <a:solidFill>
                            <a:srgbClr val="1A202C"/>
                          </a:solidFill>
                          <a:latin typeface="Calibri"/>
                        </a:defRPr>
                      </a:pPr>
                      <a:r>
                        <a:t>A10</a:t>
                      </a:r>
                    </a:p>
                  </a:txBody>
                  <a:tcPr>
                    <a:solidFill>
                      <a:srgbClr val="F8F9FA"/>
                    </a:solidFill>
                  </a:tcPr>
                </a:tc>
                <a:tc>
                  <a:txBody>
                    <a:bodyPr/>
                    <a:lstStyle/>
                    <a:p>
                      <a:pPr>
                        <a:defRPr sz="1100">
                          <a:solidFill>
                            <a:srgbClr val="1A202C"/>
                          </a:solidFill>
                          <a:latin typeface="Calibri"/>
                        </a:defRPr>
                      </a:pPr>
                      <a:r>
                        <a:t>SSRF (Server-Side Request Forgery)</a:t>
                      </a:r>
                    </a:p>
                  </a:txBody>
                  <a:tcPr>
                    <a:solidFill>
                      <a:srgbClr val="F8F9FA"/>
                    </a:solidFill>
                  </a:tcPr>
                </a:tc>
                <a:tc>
                  <a:txBody>
                    <a:bodyPr/>
                    <a:lstStyle/>
                    <a:p>
                      <a:pPr>
                        <a:defRPr sz="1100">
                          <a:solidFill>
                            <a:srgbClr val="1A202C"/>
                          </a:solidFill>
                          <a:latin typeface="Calibri"/>
                        </a:defRPr>
                      </a:pPr>
                      <a:r>
                        <a:t>✅ N/A</a:t>
                      </a:r>
                    </a:p>
                  </a:txBody>
                  <a:tcPr>
                    <a:solidFill>
                      <a:srgbClr val="F8F9FA"/>
                    </a:solidFill>
                  </a:tcPr>
                </a:tc>
              </a:tr>
            </a:tbl>
          </a:graphicData>
        </a:graphic>
      </p:graphicFrame>
      <p:sp>
        <p:nvSpPr>
          <p:cNvPr id="8" name="TextBox 7"/>
          <p:cNvSpPr txBox="1"/>
          <p:nvPr/>
        </p:nvSpPr>
        <p:spPr>
          <a:xfrm>
            <a:off x="720000" y="5940000"/>
            <a:ext cx="10800000" cy="360000"/>
          </a:xfrm>
          <a:prstGeom prst="rect">
            <a:avLst/>
          </a:prstGeom>
          <a:noFill/>
        </p:spPr>
        <p:txBody>
          <a:bodyPr wrap="square">
            <a:spAutoFit/>
          </a:bodyPr>
          <a:lstStyle/>
          <a:p>
            <a:pPr>
              <a:defRPr sz="1300" b="0" i="1">
                <a:solidFill>
                  <a:srgbClr val="7F8C8D"/>
                </a:solidFill>
                <a:latin typeface="Calibri"/>
              </a:defRPr>
            </a:pPr>
            <a:r>
              <a:t>3 vulnérabilités conformes ✅  |  4 à améliorer ❌  |  3 partiellement conformes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9. Conclusion</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19</a:t>
            </a:r>
          </a:p>
        </p:txBody>
      </p:sp>
      <p:sp>
        <p:nvSpPr>
          <p:cNvPr id="7" name="Rounded Rectangle 6"/>
          <p:cNvSpPr/>
          <p:nvPr/>
        </p:nvSpPr>
        <p:spPr>
          <a:xfrm>
            <a:off x="1080000" y="1440000"/>
            <a:ext cx="10080000" cy="1260000"/>
          </a:xfrm>
          <a:prstGeom prst="roundRect">
            <a:avLst/>
          </a:prstGeom>
          <a:solidFill>
            <a:srgbClr val="F8F9FA"/>
          </a:solidFill>
          <a:ln w="127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68000" y="1548000"/>
            <a:ext cx="9360000" cy="360000"/>
          </a:xfrm>
          <a:prstGeom prst="rect">
            <a:avLst/>
          </a:prstGeom>
          <a:noFill/>
        </p:spPr>
        <p:txBody>
          <a:bodyPr wrap="square">
            <a:spAutoFit/>
          </a:bodyPr>
          <a:lstStyle/>
          <a:p>
            <a:pPr>
              <a:defRPr sz="2200" b="1" i="0">
                <a:solidFill>
                  <a:srgbClr val="1A365D"/>
                </a:solidFill>
                <a:latin typeface="Calibri"/>
              </a:defRPr>
            </a:pPr>
            <a:r>
              <a:t>✅ Pipeline complète et reproductible</a:t>
            </a:r>
          </a:p>
        </p:txBody>
      </p:sp>
      <p:sp>
        <p:nvSpPr>
          <p:cNvPr id="9" name="TextBox 8"/>
          <p:cNvSpPr txBox="1"/>
          <p:nvPr/>
        </p:nvSpPr>
        <p:spPr>
          <a:xfrm>
            <a:off x="1368000" y="1980000"/>
            <a:ext cx="9360000" cy="540000"/>
          </a:xfrm>
          <a:prstGeom prst="rect">
            <a:avLst/>
          </a:prstGeom>
          <a:noFill/>
        </p:spPr>
        <p:txBody>
          <a:bodyPr wrap="square">
            <a:spAutoFit/>
          </a:bodyPr>
          <a:lstStyle/>
          <a:p>
            <a:pPr>
              <a:defRPr sz="1400" b="0" i="0">
                <a:solidFill>
                  <a:srgbClr val="1A202C"/>
                </a:solidFill>
                <a:latin typeface="Calibri"/>
              </a:defRPr>
            </a:pPr>
            <a:r>
              <a:t>9 étapes automatisées, ~15-20 min, exécutable sur toute machine Ubuntu 22.04 avec Docker</a:t>
            </a:r>
          </a:p>
        </p:txBody>
      </p:sp>
      <p:sp>
        <p:nvSpPr>
          <p:cNvPr id="10" name="Rounded Rectangle 9"/>
          <p:cNvSpPr/>
          <p:nvPr/>
        </p:nvSpPr>
        <p:spPr>
          <a:xfrm>
            <a:off x="1080000" y="2880000"/>
            <a:ext cx="10080000" cy="1260000"/>
          </a:xfrm>
          <a:prstGeom prst="roundRect">
            <a:avLst/>
          </a:prstGeom>
          <a:solidFill>
            <a:srgbClr val="F8F9FA"/>
          </a:solidFill>
          <a:ln w="127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68000" y="2988000"/>
            <a:ext cx="9360000" cy="360000"/>
          </a:xfrm>
          <a:prstGeom prst="rect">
            <a:avLst/>
          </a:prstGeom>
          <a:noFill/>
        </p:spPr>
        <p:txBody>
          <a:bodyPr wrap="square">
            <a:spAutoFit/>
          </a:bodyPr>
          <a:lstStyle/>
          <a:p>
            <a:pPr>
              <a:defRPr sz="2200" b="1" i="0">
                <a:solidFill>
                  <a:srgbClr val="1A365D"/>
                </a:solidFill>
                <a:latin typeface="Calibri"/>
              </a:defRPr>
            </a:pPr>
            <a:r>
              <a:t>⚠️ 20 vulnérabilités identifiées</a:t>
            </a:r>
          </a:p>
        </p:txBody>
      </p:sp>
      <p:sp>
        <p:nvSpPr>
          <p:cNvPr id="12" name="TextBox 11"/>
          <p:cNvSpPr txBox="1"/>
          <p:nvPr/>
        </p:nvSpPr>
        <p:spPr>
          <a:xfrm>
            <a:off x="1368000" y="3420000"/>
            <a:ext cx="9360000" cy="540000"/>
          </a:xfrm>
          <a:prstGeom prst="rect">
            <a:avLst/>
          </a:prstGeom>
          <a:noFill/>
        </p:spPr>
        <p:txBody>
          <a:bodyPr wrap="square">
            <a:spAutoFit/>
          </a:bodyPr>
          <a:lstStyle/>
          <a:p>
            <a:pPr>
              <a:defRPr sz="1400" b="0" i="0">
                <a:solidFill>
                  <a:srgbClr val="1A202C"/>
                </a:solidFill>
                <a:latin typeface="Calibri"/>
              </a:defRPr>
            </a:pPr>
            <a:r>
              <a:t>1 critique, 5 hautes, 8 moyennes, 6 basses — plan de remédiation en 13 heures</a:t>
            </a:r>
          </a:p>
        </p:txBody>
      </p:sp>
      <p:sp>
        <p:nvSpPr>
          <p:cNvPr id="13" name="Rounded Rectangle 12"/>
          <p:cNvSpPr/>
          <p:nvPr/>
        </p:nvSpPr>
        <p:spPr>
          <a:xfrm>
            <a:off x="1080000" y="4320000"/>
            <a:ext cx="10080000" cy="1260000"/>
          </a:xfrm>
          <a:prstGeom prst="roundRect">
            <a:avLst/>
          </a:prstGeom>
          <a:solidFill>
            <a:srgbClr val="F8F9FA"/>
          </a:solidFill>
          <a:ln w="127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68000" y="4428000"/>
            <a:ext cx="9360000" cy="360000"/>
          </a:xfrm>
          <a:prstGeom prst="rect">
            <a:avLst/>
          </a:prstGeom>
          <a:noFill/>
        </p:spPr>
        <p:txBody>
          <a:bodyPr wrap="square">
            <a:spAutoFit/>
          </a:bodyPr>
          <a:lstStyle/>
          <a:p>
            <a:pPr>
              <a:defRPr sz="2200" b="1" i="0">
                <a:solidFill>
                  <a:srgbClr val="1A365D"/>
                </a:solidFill>
                <a:latin typeface="Calibri"/>
              </a:defRPr>
            </a:pPr>
            <a:r>
              <a:t>📈 Score de sécurité : 55 → 90/100</a:t>
            </a:r>
          </a:p>
        </p:txBody>
      </p:sp>
      <p:sp>
        <p:nvSpPr>
          <p:cNvPr id="15" name="TextBox 14"/>
          <p:cNvSpPr txBox="1"/>
          <p:nvPr/>
        </p:nvSpPr>
        <p:spPr>
          <a:xfrm>
            <a:off x="1368000" y="4860000"/>
            <a:ext cx="9360000" cy="540000"/>
          </a:xfrm>
          <a:prstGeom prst="rect">
            <a:avLst/>
          </a:prstGeom>
          <a:noFill/>
        </p:spPr>
        <p:txBody>
          <a:bodyPr wrap="square">
            <a:spAutoFit/>
          </a:bodyPr>
          <a:lstStyle/>
          <a:p>
            <a:pPr>
              <a:defRPr sz="1400" b="0" i="0">
                <a:solidFill>
                  <a:srgbClr val="1A202C"/>
                </a:solidFill>
                <a:latin typeface="Calibri"/>
              </a:defRPr>
            </a:pPr>
            <a:r>
              <a:t>Après application du plan de remédiation P0-P3</a:t>
            </a:r>
          </a:p>
        </p:txBody>
      </p:sp>
      <p:sp>
        <p:nvSpPr>
          <p:cNvPr id="16" name="TextBox 15"/>
          <p:cNvSpPr txBox="1"/>
          <p:nvPr/>
        </p:nvSpPr>
        <p:spPr>
          <a:xfrm>
            <a:off x="1080000" y="5940000"/>
            <a:ext cx="10080000" cy="540000"/>
          </a:xfrm>
          <a:prstGeom prst="rect">
            <a:avLst/>
          </a:prstGeom>
          <a:noFill/>
        </p:spPr>
        <p:txBody>
          <a:bodyPr wrap="square">
            <a:spAutoFit/>
          </a:bodyPr>
          <a:lstStyle/>
          <a:p>
            <a:pPr>
              <a:defRPr sz="1500" b="0" i="1">
                <a:solidFill>
                  <a:srgbClr val="1A202C"/>
                </a:solidFill>
                <a:latin typeface="Calibri"/>
              </a:defRPr>
            </a:pPr>
            <a:r>
              <a:t>L'approche Shift Left Security permet de détecter les vulnérabilités tôt, à moindre coût.</a:t>
            </a:r>
            <a:br/>
            <a:r>
              <a:t>La pipeline est prête pour un usage en production.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9.1 Perspectives d'évolution</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20</a:t>
            </a:r>
          </a:p>
        </p:txBody>
      </p:sp>
      <p:sp>
        <p:nvSpPr>
          <p:cNvPr id="7" name="TextBox 6"/>
          <p:cNvSpPr txBox="1"/>
          <p:nvPr/>
        </p:nvSpPr>
        <p:spPr>
          <a:xfrm>
            <a:off x="1080000" y="1260000"/>
            <a:ext cx="10080000" cy="5040000"/>
          </a:xfrm>
          <a:prstGeom prst="rect">
            <a:avLst/>
          </a:prstGeom>
          <a:noFill/>
        </p:spPr>
        <p:txBody>
          <a:bodyPr wrap="square">
            <a:spAutoFit/>
          </a:bodyPr>
          <a:lstStyle/>
          <a:p>
            <a:pPr>
              <a:spcAft>
                <a:spcPts val="1400"/>
              </a:spcAft>
              <a:defRPr sz="1600">
                <a:solidFill>
                  <a:srgbClr val="1A202C"/>
                </a:solidFill>
                <a:latin typeface="Calibri"/>
              </a:defRPr>
            </a:pPr>
            <a:r>
              <a:t>• Intégration de tests fuzzing (AFL, hypothesis) pour découvrir des vulnérabilités inconnues</a:t>
            </a:r>
          </a:p>
          <a:p>
            <a:pPr>
              <a:spcAft>
                <a:spcPts val="1400"/>
              </a:spcAft>
              <a:defRPr sz="1600">
                <a:solidFill>
                  <a:srgbClr val="1A202C"/>
                </a:solidFill>
                <a:latin typeface="Calibri"/>
              </a:defRPr>
            </a:pPr>
            <a:r>
              <a:t>• Scan SCA approfondi (Software Composition Analysis) avec OWASP Dependency-Check</a:t>
            </a:r>
          </a:p>
          <a:p>
            <a:pPr>
              <a:spcAft>
                <a:spcPts val="1400"/>
              </a:spcAft>
              <a:defRPr sz="1600">
                <a:solidFill>
                  <a:srgbClr val="1A202C"/>
                </a:solidFill>
                <a:latin typeface="Calibri"/>
              </a:defRPr>
            </a:pPr>
            <a:r>
              <a:t>• Extension des scénarios DAST : business logic, race conditions, tests de charge</a:t>
            </a:r>
          </a:p>
          <a:p>
            <a:pPr>
              <a:spcAft>
                <a:spcPts val="1400"/>
              </a:spcAft>
              <a:defRPr sz="1600">
                <a:solidFill>
                  <a:srgbClr val="1A202C"/>
                </a:solidFill>
                <a:latin typeface="Calibri"/>
              </a:defRPr>
            </a:pPr>
            <a:r>
              <a:t>• Tests mutationnels avec mutmut pour évaluer la qualité de la suite de tests</a:t>
            </a:r>
          </a:p>
          <a:p>
            <a:pPr>
              <a:spcAft>
                <a:spcPts val="1400"/>
              </a:spcAft>
              <a:defRPr sz="1600">
                <a:solidFill>
                  <a:srgbClr val="1A202C"/>
                </a:solidFill>
                <a:latin typeface="Calibri"/>
              </a:defRPr>
            </a:pPr>
            <a:r>
              <a:t>• Intégration continue de la sécurité dans les pull requests (SonarQube PR decoration)</a:t>
            </a:r>
          </a:p>
          <a:p>
            <a:pPr>
              <a:spcAft>
                <a:spcPts val="1400"/>
              </a:spcAft>
              <a:defRPr sz="1600">
                <a:solidFill>
                  <a:srgbClr val="1A202C"/>
                </a:solidFill>
                <a:latin typeface="Calibri"/>
              </a:defRPr>
            </a:pPr>
            <a:r>
              <a:t>• Déploiement sur Kubernetes avec politiques Pod Security Standards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0000" y="54000"/>
            <a:ext cx="11160000" cy="1905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288000"/>
            <a:ext cx="10800000" cy="648000"/>
          </a:xfrm>
          <a:prstGeom prst="rect">
            <a:avLst/>
          </a:prstGeom>
          <a:noFill/>
        </p:spPr>
        <p:txBody>
          <a:bodyPr wrap="square">
            <a:spAutoFit/>
          </a:bodyPr>
          <a:lstStyle/>
          <a:p>
            <a:pPr>
              <a:defRPr sz="2800" b="1">
                <a:solidFill>
                  <a:srgbClr val="1A365D"/>
                </a:solidFill>
                <a:latin typeface="Calibri"/>
              </a:defRPr>
            </a:pPr>
            <a:r>
              <a:t>9.2 Bilan personnel</a:t>
            </a:r>
          </a:p>
        </p:txBody>
      </p:sp>
      <p:sp>
        <p:nvSpPr>
          <p:cNvPr id="5" name="TextBox 4"/>
          <p:cNvSpPr txBox="1"/>
          <p:nvPr/>
        </p:nvSpPr>
        <p:spPr>
          <a:xfrm>
            <a:off x="540000" y="6552000"/>
            <a:ext cx="5400000" cy="216000"/>
          </a:xfrm>
          <a:prstGeom prst="rect">
            <a:avLst/>
          </a:prstGeom>
          <a:noFill/>
        </p:spPr>
        <p:txBody>
          <a:bodyPr wrap="none">
            <a:spAutoFit/>
          </a:bodyPr>
          <a:lstStyle/>
          <a:p>
            <a:pPr>
              <a:defRPr sz="900" i="1">
                <a:solidFill>
                  <a:srgbClr val="7F8C8D"/>
                </a:solidFill>
              </a:defRPr>
            </a:pPr>
            <a:r>
              <a:t>Stage DevSecOps — Été 2026</a:t>
            </a:r>
          </a:p>
        </p:txBody>
      </p:sp>
      <p:sp>
        <p:nvSpPr>
          <p:cNvPr id="6" name="TextBox 5"/>
          <p:cNvSpPr txBox="1"/>
          <p:nvPr/>
        </p:nvSpPr>
        <p:spPr>
          <a:xfrm>
            <a:off x="10440000" y="6552000"/>
            <a:ext cx="1440000" cy="216000"/>
          </a:xfrm>
          <a:prstGeom prst="rect">
            <a:avLst/>
          </a:prstGeom>
          <a:noFill/>
        </p:spPr>
        <p:txBody>
          <a:bodyPr wrap="none">
            <a:spAutoFit/>
          </a:bodyPr>
          <a:lstStyle/>
          <a:p>
            <a:pPr algn="r">
              <a:defRPr sz="900">
                <a:solidFill>
                  <a:srgbClr val="7F8C8D"/>
                </a:solidFill>
              </a:defRPr>
            </a:pPr>
            <a:r>
              <a:t>21</a:t>
            </a:r>
          </a:p>
        </p:txBody>
      </p:sp>
      <p:sp>
        <p:nvSpPr>
          <p:cNvPr id="7" name="TextBox 6"/>
          <p:cNvSpPr txBox="1"/>
          <p:nvPr/>
        </p:nvSpPr>
        <p:spPr>
          <a:xfrm>
            <a:off x="900000" y="1260000"/>
            <a:ext cx="10440000" cy="5040000"/>
          </a:xfrm>
          <a:prstGeom prst="rect">
            <a:avLst/>
          </a:prstGeom>
          <a:noFill/>
        </p:spPr>
        <p:txBody>
          <a:bodyPr wrap="square">
            <a:spAutoFit/>
          </a:bodyPr>
          <a:lstStyle/>
          <a:p>
            <a:pPr>
              <a:spcAft>
                <a:spcPts val="1200"/>
              </a:spcAft>
              <a:defRPr sz="1600">
                <a:solidFill>
                  <a:srgbClr val="1A202C"/>
                </a:solidFill>
                <a:latin typeface="Calibri"/>
              </a:defRPr>
            </a:pPr>
            <a:r>
              <a:t>• 🔧 Maîtrise des outils DevSecOps</a:t>
            </a:r>
            <a:br/>
            <a:r>
              <a:t>SonarQube, Semgrep, OWASP ZAP, Trivy, Gitleaks, Bandit, pip-audit</a:t>
            </a:r>
          </a:p>
          <a:p>
            <a:pPr>
              <a:spcAft>
                <a:spcPts val="1200"/>
              </a:spcAft>
              <a:defRPr sz="1600">
                <a:solidFill>
                  <a:srgbClr val="1A202C"/>
                </a:solidFill>
                <a:latin typeface="Calibri"/>
              </a:defRPr>
            </a:pPr>
            <a:r>
              <a:t>• ⚙️ Architecture CI/CD</a:t>
            </a:r>
            <a:br/>
            <a:r>
              <a:t>GitHub Actions (3 workflows), Jenkinsfile, Makefile, scripts shell avancés</a:t>
            </a:r>
          </a:p>
          <a:p>
            <a:pPr>
              <a:spcAft>
                <a:spcPts val="1200"/>
              </a:spcAft>
              <a:defRPr sz="1600">
                <a:solidFill>
                  <a:srgbClr val="1A202C"/>
                </a:solidFill>
                <a:latin typeface="Calibri"/>
              </a:defRPr>
            </a:pPr>
            <a:r>
              <a:t>• 🛡️ Sécurité applicative</a:t>
            </a:r>
            <a:br/>
            <a:r>
              <a:t>OWASP Top 10, SAST, DAST, score CVSS v3.1, 12 scénarios de test</a:t>
            </a:r>
          </a:p>
          <a:p>
            <a:pPr>
              <a:spcAft>
                <a:spcPts val="1200"/>
              </a:spcAft>
              <a:defRPr sz="1600">
                <a:solidFill>
                  <a:srgbClr val="1A202C"/>
                </a:solidFill>
                <a:latin typeface="Calibri"/>
              </a:defRPr>
            </a:pPr>
            <a:r>
              <a:t>• 🐳 Conteneurisation Docker</a:t>
            </a:r>
            <a:br/>
            <a:r>
              <a:t>Build multi-stage, utilisateur non-root, image slim, Trivy scan</a:t>
            </a:r>
          </a:p>
          <a:p>
            <a:pPr>
              <a:spcAft>
                <a:spcPts val="1200"/>
              </a:spcAft>
              <a:defRPr sz="1600">
                <a:solidFill>
                  <a:srgbClr val="1A202C"/>
                </a:solidFill>
                <a:latin typeface="Calibri"/>
              </a:defRPr>
            </a:pPr>
            <a:r>
              <a:t>• 📚 Documentation technique</a:t>
            </a:r>
            <a:br/>
            <a:r>
              <a:t>8 rapports PDF professionnels en français, documentation technique complète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5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1999"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80000" y="1800000"/>
            <a:ext cx="10080000" cy="1080000"/>
          </a:xfrm>
          <a:prstGeom prst="rect">
            <a:avLst/>
          </a:prstGeom>
          <a:noFill/>
        </p:spPr>
        <p:txBody>
          <a:bodyPr wrap="square">
            <a:spAutoFit/>
          </a:bodyPr>
          <a:lstStyle/>
          <a:p>
            <a:pPr>
              <a:defRPr sz="4000" b="1" i="0">
                <a:solidFill>
                  <a:srgbClr val="1A365D"/>
                </a:solidFill>
                <a:latin typeface="Calibri"/>
              </a:defRPr>
            </a:pPr>
            <a:r>
              <a:t>Merci de votre attention</a:t>
            </a:r>
          </a:p>
        </p:txBody>
      </p:sp>
      <p:sp>
        <p:nvSpPr>
          <p:cNvPr id="5" name="TextBox 4"/>
          <p:cNvSpPr txBox="1"/>
          <p:nvPr/>
        </p:nvSpPr>
        <p:spPr>
          <a:xfrm>
            <a:off x="1080000" y="3060000"/>
            <a:ext cx="10080000" cy="540000"/>
          </a:xfrm>
          <a:prstGeom prst="rect">
            <a:avLst/>
          </a:prstGeom>
          <a:noFill/>
        </p:spPr>
        <p:txBody>
          <a:bodyPr wrap="square">
            <a:spAutoFit/>
          </a:bodyPr>
          <a:lstStyle/>
          <a:p>
            <a:pPr>
              <a:defRPr sz="2800" b="0" i="0">
                <a:solidFill>
                  <a:srgbClr val="2B6CB0"/>
                </a:solidFill>
                <a:latin typeface="Calibri"/>
              </a:defRPr>
            </a:pPr>
            <a:r>
              <a:t>Questions ?</a:t>
            </a:r>
          </a:p>
        </p:txBody>
      </p:sp>
      <p:sp>
        <p:nvSpPr>
          <p:cNvPr id="6" name="TextBox 5"/>
          <p:cNvSpPr txBox="1"/>
          <p:nvPr/>
        </p:nvSpPr>
        <p:spPr>
          <a:xfrm>
            <a:off x="1080000" y="4320000"/>
            <a:ext cx="10080000" cy="360000"/>
          </a:xfrm>
          <a:prstGeom prst="rect">
            <a:avLst/>
          </a:prstGeom>
          <a:noFill/>
        </p:spPr>
        <p:txBody>
          <a:bodyPr wrap="square">
            <a:spAutoFit/>
          </a:bodyPr>
          <a:lstStyle/>
          <a:p>
            <a:pPr>
              <a:defRPr sz="2000" b="1" i="0">
                <a:solidFill>
                  <a:srgbClr val="1A202C"/>
                </a:solidFill>
                <a:latin typeface="Calibri"/>
              </a:defRPr>
            </a:pPr>
            <a:r>
              <a:t>Mohammed Baili</a:t>
            </a:r>
          </a:p>
        </p:txBody>
      </p:sp>
      <p:sp>
        <p:nvSpPr>
          <p:cNvPr id="7" name="TextBox 6"/>
          <p:cNvSpPr txBox="1"/>
          <p:nvPr/>
        </p:nvSpPr>
        <p:spPr>
          <a:xfrm>
            <a:off x="1080000" y="4860000"/>
            <a:ext cx="10080000" cy="360000"/>
          </a:xfrm>
          <a:prstGeom prst="rect">
            <a:avLst/>
          </a:prstGeom>
          <a:noFill/>
        </p:spPr>
        <p:txBody>
          <a:bodyPr wrap="square">
            <a:spAutoFit/>
          </a:bodyPr>
          <a:lstStyle/>
          <a:p>
            <a:pPr>
              <a:defRPr sz="1600" b="0" i="0">
                <a:solidFill>
                  <a:srgbClr val="7F8C8D"/>
                </a:solidFill>
                <a:latin typeface="Calibri"/>
              </a:defRPr>
            </a:pPr>
            <a:r>
              <a:t>[Email à compléter]</a:t>
            </a:r>
          </a:p>
        </p:txBody>
      </p:sp>
      <p:sp>
        <p:nvSpPr>
          <p:cNvPr id="8" name="TextBox 7"/>
          <p:cNvSpPr txBox="1"/>
          <p:nvPr/>
        </p:nvSpPr>
        <p:spPr>
          <a:xfrm>
            <a:off x="1080000" y="5580000"/>
            <a:ext cx="10080000" cy="360000"/>
          </a:xfrm>
          <a:prstGeom prst="rect">
            <a:avLst/>
          </a:prstGeom>
          <a:noFill/>
        </p:spPr>
        <p:txBody>
          <a:bodyPr wrap="square">
            <a:spAutoFit/>
          </a:bodyPr>
          <a:lstStyle/>
          <a:p>
            <a:pPr>
              <a:defRPr sz="1400" b="1" i="0">
                <a:solidFill>
                  <a:srgbClr val="2B6CB0"/>
                </a:solidFill>
                <a:latin typeface="Consolas"/>
              </a:defRPr>
            </a:pPr>
            <a:r>
              <a:t>github.com/bailimohammed799-dot/devsecops-pipeline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